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7"/>
  </p:notesMasterIdLst>
  <p:handoutMasterIdLst>
    <p:handoutMasterId r:id="rId18"/>
  </p:handoutMasterIdLst>
  <p:sldIdLst>
    <p:sldId id="261" r:id="rId2"/>
    <p:sldId id="290" r:id="rId3"/>
    <p:sldId id="301" r:id="rId4"/>
    <p:sldId id="293" r:id="rId5"/>
    <p:sldId id="279" r:id="rId6"/>
    <p:sldId id="281" r:id="rId7"/>
    <p:sldId id="282" r:id="rId8"/>
    <p:sldId id="294" r:id="rId9"/>
    <p:sldId id="284" r:id="rId10"/>
    <p:sldId id="297" r:id="rId11"/>
    <p:sldId id="299" r:id="rId12"/>
    <p:sldId id="285" r:id="rId13"/>
    <p:sldId id="300" r:id="rId14"/>
    <p:sldId id="303" r:id="rId15"/>
    <p:sldId id="302"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DAY KIRAN PALAGIRI" initials="UKP" lastIdx="1" clrIdx="0">
    <p:extLst>
      <p:ext uri="{19B8F6BF-5375-455C-9EA6-DF929625EA0E}">
        <p15:presenceInfo xmlns:p15="http://schemas.microsoft.com/office/powerpoint/2012/main" userId="e472569547126c1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68" autoAdjust="0"/>
    <p:restoredTop sz="94590" autoAdjust="0"/>
  </p:normalViewPr>
  <p:slideViewPr>
    <p:cSldViewPr>
      <p:cViewPr>
        <p:scale>
          <a:sx n="66" d="100"/>
          <a:sy n="66" d="100"/>
        </p:scale>
        <p:origin x="1288"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5" d="100"/>
          <a:sy n="55" d="100"/>
        </p:scale>
        <p:origin x="-2904"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3472FC0-3A6E-4FDF-98C7-05D53ADA3185}" type="datetimeFigureOut">
              <a:rPr lang="en-US" smtClean="0"/>
              <a:pPr/>
              <a:t>4/22/2025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7E15A7B-879F-45B5-9291-0F55AE53DB35}" type="slidenum">
              <a:rPr lang="en-US" smtClean="0"/>
              <a:pPr/>
              <a:t>‹#›</a:t>
            </a:fld>
            <a:endParaRPr lang="en-US"/>
          </a:p>
        </p:txBody>
      </p:sp>
    </p:spTree>
    <p:extLst>
      <p:ext uri="{BB962C8B-B14F-4D97-AF65-F5344CB8AC3E}">
        <p14:creationId xmlns:p14="http://schemas.microsoft.com/office/powerpoint/2010/main" val="23923146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F44B48-72A2-4A15-9A9B-0DA2BF7C6B02}" type="datetimeFigureOut">
              <a:rPr lang="en-US" smtClean="0"/>
              <a:pPr/>
              <a:t>4/22/2025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D238FA3-189B-4AA8-9E46-1FED810FB611}" type="slidenum">
              <a:rPr lang="en-US" smtClean="0"/>
              <a:pPr/>
              <a:t>‹#›</a:t>
            </a:fld>
            <a:endParaRPr lang="en-US"/>
          </a:p>
        </p:txBody>
      </p:sp>
    </p:spTree>
    <p:extLst>
      <p:ext uri="{BB962C8B-B14F-4D97-AF65-F5344CB8AC3E}">
        <p14:creationId xmlns:p14="http://schemas.microsoft.com/office/powerpoint/2010/main" val="798616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D238FA3-189B-4AA8-9E46-1FED810FB611}" type="slidenum">
              <a:rPr lang="en-US" smtClean="0"/>
              <a:pPr/>
              <a:t>6</a:t>
            </a:fld>
            <a:endParaRPr lang="en-US"/>
          </a:p>
        </p:txBody>
      </p:sp>
    </p:spTree>
    <p:extLst>
      <p:ext uri="{BB962C8B-B14F-4D97-AF65-F5344CB8AC3E}">
        <p14:creationId xmlns:p14="http://schemas.microsoft.com/office/powerpoint/2010/main" val="21574290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2692A17-0A09-42B3-AA77-DE5E3838BC82}" type="datetime3">
              <a:rPr lang="en-US" smtClean="0"/>
              <a:t>22 April 2025</a:t>
            </a:fld>
            <a:endParaRPr lang="en-US" dirty="0"/>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
        <p:nvSpPr>
          <p:cNvPr id="7" name="Footer Placeholder 4">
            <a:extLst>
              <a:ext uri="{FF2B5EF4-FFF2-40B4-BE49-F238E27FC236}">
                <a16:creationId xmlns:a16="http://schemas.microsoft.com/office/drawing/2014/main" id="{4D367A52-E3CF-44E7-B0BD-2053F5B16016}"/>
              </a:ext>
            </a:extLst>
          </p:cNvPr>
          <p:cNvSpPr>
            <a:spLocks noGrp="1"/>
          </p:cNvSpPr>
          <p:nvPr>
            <p:ph type="ftr" sz="quarter" idx="4294967295"/>
          </p:nvPr>
        </p:nvSpPr>
        <p:spPr>
          <a:xfrm>
            <a:off x="2857500" y="6356350"/>
            <a:ext cx="3429000" cy="365125"/>
          </a:xfrm>
          <a:prstGeom prst="rect">
            <a:avLst/>
          </a:prstGeom>
        </p:spPr>
        <p:txBody>
          <a:bodyPr/>
          <a:lstStyle>
            <a:lvl1pPr algn="ctr">
              <a:defRPr sz="1000">
                <a:solidFill>
                  <a:schemeClr val="bg1">
                    <a:lumMod val="50000"/>
                  </a:schemeClr>
                </a:solidFill>
              </a:defRPr>
            </a:lvl1pPr>
          </a:lstStyle>
          <a:p>
            <a:r>
              <a:rPr lang="en-US"/>
              <a:t>Department of CSE with AI</a:t>
            </a:r>
            <a:endParaRPr lang="en-US" b="1" dirty="0"/>
          </a:p>
        </p:txBody>
      </p:sp>
    </p:spTree>
    <p:extLst>
      <p:ext uri="{BB962C8B-B14F-4D97-AF65-F5344CB8AC3E}">
        <p14:creationId xmlns:p14="http://schemas.microsoft.com/office/powerpoint/2010/main" val="3969781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B596F6-DF69-4EF4-97D6-E7DC52091015}" type="datetime3">
              <a:rPr lang="en-US" smtClean="0"/>
              <a:t>22 April 2025</a:t>
            </a:fld>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
        <p:nvSpPr>
          <p:cNvPr id="7" name="Footer Placeholder 4">
            <a:extLst>
              <a:ext uri="{FF2B5EF4-FFF2-40B4-BE49-F238E27FC236}">
                <a16:creationId xmlns:a16="http://schemas.microsoft.com/office/drawing/2014/main" id="{A885EDBD-DC0D-4DCF-81FB-0320C8338C0A}"/>
              </a:ext>
            </a:extLst>
          </p:cNvPr>
          <p:cNvSpPr>
            <a:spLocks noGrp="1"/>
          </p:cNvSpPr>
          <p:nvPr>
            <p:ph type="ftr" sz="quarter" idx="4294967295"/>
          </p:nvPr>
        </p:nvSpPr>
        <p:spPr>
          <a:xfrm>
            <a:off x="2906661" y="6356350"/>
            <a:ext cx="3429000" cy="365125"/>
          </a:xfrm>
          <a:prstGeom prst="rect">
            <a:avLst/>
          </a:prstGeom>
        </p:spPr>
        <p:txBody>
          <a:bodyPr/>
          <a:lstStyle>
            <a:lvl1pPr algn="ctr">
              <a:defRPr sz="1000">
                <a:solidFill>
                  <a:schemeClr val="bg1">
                    <a:lumMod val="50000"/>
                  </a:schemeClr>
                </a:solidFill>
              </a:defRPr>
            </a:lvl1pPr>
          </a:lstStyle>
          <a:p>
            <a:r>
              <a:rPr lang="en-US"/>
              <a:t>Department of CSE with AI</a:t>
            </a:r>
            <a:endParaRPr lang="en-US" b="1" dirty="0"/>
          </a:p>
        </p:txBody>
      </p:sp>
    </p:spTree>
    <p:extLst>
      <p:ext uri="{BB962C8B-B14F-4D97-AF65-F5344CB8AC3E}">
        <p14:creationId xmlns:p14="http://schemas.microsoft.com/office/powerpoint/2010/main" val="2383148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DABFEC-0DD9-4FEF-9A5D-903DA2489C86}" type="datetime3">
              <a:rPr lang="en-US" smtClean="0"/>
              <a:t>22 April 2025</a:t>
            </a:fld>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pPr/>
              <a:t>‹#›</a:t>
            </a:fld>
            <a:endParaRPr lang="en-US"/>
          </a:p>
        </p:txBody>
      </p:sp>
      <p:sp>
        <p:nvSpPr>
          <p:cNvPr id="7" name="Footer Placeholder 4">
            <a:extLst>
              <a:ext uri="{FF2B5EF4-FFF2-40B4-BE49-F238E27FC236}">
                <a16:creationId xmlns:a16="http://schemas.microsoft.com/office/drawing/2014/main" id="{28E260E4-5885-4162-9A9B-BD4B1C73E969}"/>
              </a:ext>
            </a:extLst>
          </p:cNvPr>
          <p:cNvSpPr>
            <a:spLocks noGrp="1"/>
          </p:cNvSpPr>
          <p:nvPr>
            <p:ph type="ftr" sz="quarter" idx="4294967295"/>
          </p:nvPr>
        </p:nvSpPr>
        <p:spPr>
          <a:xfrm>
            <a:off x="2894013" y="6389431"/>
            <a:ext cx="3429000" cy="365125"/>
          </a:xfrm>
          <a:prstGeom prst="rect">
            <a:avLst/>
          </a:prstGeom>
        </p:spPr>
        <p:txBody>
          <a:bodyPr/>
          <a:lstStyle>
            <a:lvl1pPr algn="ctr">
              <a:defRPr sz="1000">
                <a:solidFill>
                  <a:schemeClr val="bg1">
                    <a:lumMod val="50000"/>
                  </a:schemeClr>
                </a:solidFill>
              </a:defRPr>
            </a:lvl1pPr>
          </a:lstStyle>
          <a:p>
            <a:r>
              <a:rPr lang="en-US"/>
              <a:t>Department of CSE with AI</a:t>
            </a:r>
            <a:endParaRPr lang="en-US" b="1" dirty="0"/>
          </a:p>
        </p:txBody>
      </p:sp>
    </p:spTree>
    <p:extLst>
      <p:ext uri="{BB962C8B-B14F-4D97-AF65-F5344CB8AC3E}">
        <p14:creationId xmlns:p14="http://schemas.microsoft.com/office/powerpoint/2010/main" val="1244091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5AA903B-FCB0-450B-BE25-165F303A653C}" type="datetime3">
              <a:rPr lang="en-US" smtClean="0"/>
              <a:t>22 April 2025</a:t>
            </a:fld>
            <a:endParaRPr lang="en-US"/>
          </a:p>
        </p:txBody>
      </p:sp>
      <p:sp>
        <p:nvSpPr>
          <p:cNvPr id="7" name="Slide Number Placeholder 6"/>
          <p:cNvSpPr>
            <a:spLocks noGrp="1"/>
          </p:cNvSpPr>
          <p:nvPr>
            <p:ph type="sldNum" sz="quarter" idx="12"/>
          </p:nvPr>
        </p:nvSpPr>
        <p:spPr/>
        <p:txBody>
          <a:bodyPr/>
          <a:lstStyle/>
          <a:p>
            <a:fld id="{7B28076C-CE04-4A00-BFAA-A90EA8355859}" type="slidenum">
              <a:rPr lang="en-US" smtClean="0"/>
              <a:pPr/>
              <a:t>‹#›</a:t>
            </a:fld>
            <a:endParaRPr lang="en-US"/>
          </a:p>
        </p:txBody>
      </p:sp>
      <p:sp>
        <p:nvSpPr>
          <p:cNvPr id="8" name="Footer Placeholder 4">
            <a:extLst>
              <a:ext uri="{FF2B5EF4-FFF2-40B4-BE49-F238E27FC236}">
                <a16:creationId xmlns:a16="http://schemas.microsoft.com/office/drawing/2014/main" id="{F8B22EFA-7C55-4B48-8CEC-77BD23D1F9A5}"/>
              </a:ext>
            </a:extLst>
          </p:cNvPr>
          <p:cNvSpPr>
            <a:spLocks noGrp="1"/>
          </p:cNvSpPr>
          <p:nvPr>
            <p:ph type="ftr" sz="quarter" idx="4294967295"/>
          </p:nvPr>
        </p:nvSpPr>
        <p:spPr>
          <a:xfrm>
            <a:off x="2857500" y="6390968"/>
            <a:ext cx="3429000" cy="365125"/>
          </a:xfrm>
          <a:prstGeom prst="rect">
            <a:avLst/>
          </a:prstGeom>
        </p:spPr>
        <p:txBody>
          <a:bodyPr/>
          <a:lstStyle>
            <a:lvl1pPr algn="ctr">
              <a:defRPr sz="1000">
                <a:solidFill>
                  <a:schemeClr val="bg1">
                    <a:lumMod val="50000"/>
                  </a:schemeClr>
                </a:solidFill>
              </a:defRPr>
            </a:lvl1pPr>
          </a:lstStyle>
          <a:p>
            <a:r>
              <a:rPr lang="en-US"/>
              <a:t>Department of CSE with AI</a:t>
            </a:r>
            <a:endParaRPr lang="en-US" b="1" dirty="0"/>
          </a:p>
        </p:txBody>
      </p:sp>
    </p:spTree>
    <p:extLst>
      <p:ext uri="{BB962C8B-B14F-4D97-AF65-F5344CB8AC3E}">
        <p14:creationId xmlns:p14="http://schemas.microsoft.com/office/powerpoint/2010/main" val="3017900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FFDA227-E806-4BD5-869D-2FE47C968AAA}" type="datetime3">
              <a:rPr lang="en-US" smtClean="0"/>
              <a:t>22 April 2025</a:t>
            </a:fld>
            <a:endParaRPr lang="en-US"/>
          </a:p>
        </p:txBody>
      </p:sp>
      <p:sp>
        <p:nvSpPr>
          <p:cNvPr id="9" name="Slide Number Placeholder 8"/>
          <p:cNvSpPr>
            <a:spLocks noGrp="1"/>
          </p:cNvSpPr>
          <p:nvPr>
            <p:ph type="sldNum" sz="quarter" idx="12"/>
          </p:nvPr>
        </p:nvSpPr>
        <p:spPr/>
        <p:txBody>
          <a:bodyPr/>
          <a:lstStyle/>
          <a:p>
            <a:fld id="{7B28076C-CE04-4A00-BFAA-A90EA8355859}" type="slidenum">
              <a:rPr lang="en-US" smtClean="0"/>
              <a:pPr/>
              <a:t>‹#›</a:t>
            </a:fld>
            <a:endParaRPr lang="en-US"/>
          </a:p>
        </p:txBody>
      </p:sp>
      <p:sp>
        <p:nvSpPr>
          <p:cNvPr id="10" name="Footer Placeholder 4">
            <a:extLst>
              <a:ext uri="{FF2B5EF4-FFF2-40B4-BE49-F238E27FC236}">
                <a16:creationId xmlns:a16="http://schemas.microsoft.com/office/drawing/2014/main" id="{74314DE0-B936-4362-B52E-B063EB0F5BBC}"/>
              </a:ext>
            </a:extLst>
          </p:cNvPr>
          <p:cNvSpPr>
            <a:spLocks noGrp="1"/>
          </p:cNvSpPr>
          <p:nvPr>
            <p:ph type="ftr" sz="quarter" idx="4294967295"/>
          </p:nvPr>
        </p:nvSpPr>
        <p:spPr>
          <a:xfrm>
            <a:off x="2857500" y="6382722"/>
            <a:ext cx="3429000" cy="365125"/>
          </a:xfrm>
          <a:prstGeom prst="rect">
            <a:avLst/>
          </a:prstGeom>
        </p:spPr>
        <p:txBody>
          <a:bodyPr/>
          <a:lstStyle>
            <a:lvl1pPr algn="ctr">
              <a:defRPr sz="1000">
                <a:solidFill>
                  <a:schemeClr val="bg1">
                    <a:lumMod val="50000"/>
                  </a:schemeClr>
                </a:solidFill>
              </a:defRPr>
            </a:lvl1pPr>
          </a:lstStyle>
          <a:p>
            <a:r>
              <a:rPr lang="en-US"/>
              <a:t>Department of CSE with AI</a:t>
            </a:r>
            <a:endParaRPr lang="en-US" b="1" dirty="0"/>
          </a:p>
        </p:txBody>
      </p:sp>
    </p:spTree>
    <p:extLst>
      <p:ext uri="{BB962C8B-B14F-4D97-AF65-F5344CB8AC3E}">
        <p14:creationId xmlns:p14="http://schemas.microsoft.com/office/powerpoint/2010/main" val="2240346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7E2CA67-338C-4C78-B1F1-FA8BA4C94A2B}" type="datetime3">
              <a:rPr lang="en-US" smtClean="0"/>
              <a:t>22 April 2025</a:t>
            </a:fld>
            <a:endParaRPr lang="en-US"/>
          </a:p>
        </p:txBody>
      </p:sp>
      <p:sp>
        <p:nvSpPr>
          <p:cNvPr id="5" name="Slide Number Placeholder 4"/>
          <p:cNvSpPr>
            <a:spLocks noGrp="1"/>
          </p:cNvSpPr>
          <p:nvPr>
            <p:ph type="sldNum" sz="quarter" idx="12"/>
          </p:nvPr>
        </p:nvSpPr>
        <p:spPr/>
        <p:txBody>
          <a:bodyPr/>
          <a:lstStyle/>
          <a:p>
            <a:fld id="{7B28076C-CE04-4A00-BFAA-A90EA8355859}" type="slidenum">
              <a:rPr lang="en-US" smtClean="0"/>
              <a:pPr/>
              <a:t>‹#›</a:t>
            </a:fld>
            <a:endParaRPr lang="en-US"/>
          </a:p>
        </p:txBody>
      </p:sp>
      <p:sp>
        <p:nvSpPr>
          <p:cNvPr id="6" name="Footer Placeholder 4">
            <a:extLst>
              <a:ext uri="{FF2B5EF4-FFF2-40B4-BE49-F238E27FC236}">
                <a16:creationId xmlns:a16="http://schemas.microsoft.com/office/drawing/2014/main" id="{48CB0626-7066-48BC-A8A8-03E38DC766BB}"/>
              </a:ext>
            </a:extLst>
          </p:cNvPr>
          <p:cNvSpPr>
            <a:spLocks noGrp="1"/>
          </p:cNvSpPr>
          <p:nvPr>
            <p:ph type="ftr" sz="quarter" idx="4294967295"/>
          </p:nvPr>
        </p:nvSpPr>
        <p:spPr>
          <a:xfrm>
            <a:off x="2857500" y="6356349"/>
            <a:ext cx="3429000" cy="365125"/>
          </a:xfrm>
          <a:prstGeom prst="rect">
            <a:avLst/>
          </a:prstGeom>
        </p:spPr>
        <p:txBody>
          <a:bodyPr/>
          <a:lstStyle>
            <a:lvl1pPr algn="ctr">
              <a:defRPr sz="1000">
                <a:solidFill>
                  <a:schemeClr val="bg1">
                    <a:lumMod val="50000"/>
                  </a:schemeClr>
                </a:solidFill>
              </a:defRPr>
            </a:lvl1pPr>
          </a:lstStyle>
          <a:p>
            <a:r>
              <a:rPr lang="en-US"/>
              <a:t>Department of CSE with AI</a:t>
            </a:r>
            <a:endParaRPr lang="en-US" b="1" dirty="0"/>
          </a:p>
        </p:txBody>
      </p:sp>
    </p:spTree>
    <p:extLst>
      <p:ext uri="{BB962C8B-B14F-4D97-AF65-F5344CB8AC3E}">
        <p14:creationId xmlns:p14="http://schemas.microsoft.com/office/powerpoint/2010/main" val="27880198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36F411-3972-A5E9-8F49-58607FEB3088}"/>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8077200" y="201412"/>
            <a:ext cx="812675" cy="969606"/>
          </a:xfrm>
          <a:prstGeom prst="rect">
            <a:avLst/>
          </a:prstGeom>
        </p:spPr>
      </p:pic>
      <p:sp>
        <p:nvSpPr>
          <p:cNvPr id="2" name="Title Placeholder 1"/>
          <p:cNvSpPr>
            <a:spLocks noGrp="1"/>
          </p:cNvSpPr>
          <p:nvPr>
            <p:ph type="title"/>
          </p:nvPr>
        </p:nvSpPr>
        <p:spPr>
          <a:xfrm>
            <a:off x="298940" y="228600"/>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D3FB4E-4E01-41F9-AAC9-9C4B5F0B422B}" type="datetime3">
              <a:rPr lang="en-US" smtClean="0"/>
              <a:t>22 April 2025</a:t>
            </a:fld>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28076C-CE04-4A00-BFAA-A90EA8355859}" type="slidenum">
              <a:rPr lang="en-US" smtClean="0"/>
              <a:pPr/>
              <a:t>‹#›</a:t>
            </a:fld>
            <a:endParaRPr lang="en-US"/>
          </a:p>
        </p:txBody>
      </p:sp>
      <p:sp>
        <p:nvSpPr>
          <p:cNvPr id="8" name="Rectangle 7"/>
          <p:cNvSpPr/>
          <p:nvPr userDrawn="1"/>
        </p:nvSpPr>
        <p:spPr>
          <a:xfrm>
            <a:off x="298940" y="177143"/>
            <a:ext cx="8610600" cy="6553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p:cNvCxnSpPr/>
          <p:nvPr userDrawn="1"/>
        </p:nvCxnSpPr>
        <p:spPr>
          <a:xfrm>
            <a:off x="298940" y="1219200"/>
            <a:ext cx="8610600" cy="1588"/>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23151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600200"/>
            <a:ext cx="8229600" cy="4525963"/>
          </a:xfrm>
        </p:spPr>
        <p:txBody>
          <a:bodyPr/>
          <a:lstStyle/>
          <a:p>
            <a:pPr>
              <a:buNone/>
            </a:pPr>
            <a:endParaRPr lang="en-US" dirty="0"/>
          </a:p>
        </p:txBody>
      </p:sp>
      <p:sp>
        <p:nvSpPr>
          <p:cNvPr id="7" name="Rectangle 6"/>
          <p:cNvSpPr/>
          <p:nvPr/>
        </p:nvSpPr>
        <p:spPr>
          <a:xfrm>
            <a:off x="641497" y="2209800"/>
            <a:ext cx="7924800" cy="1478418"/>
          </a:xfrm>
          <a:prstGeom prst="rect">
            <a:avLst/>
          </a:prstGeom>
        </p:spPr>
        <p:txBody>
          <a:bodyPr wrap="square">
            <a:spAutoFit/>
          </a:bodyPr>
          <a:lstStyle/>
          <a:p>
            <a:pPr algn="ctr">
              <a:lnSpc>
                <a:spcPct val="150000"/>
              </a:lnSpc>
            </a:pPr>
            <a:r>
              <a:rPr lang="en-US" sz="3200" b="1" dirty="0">
                <a:solidFill>
                  <a:schemeClr val="accent2">
                    <a:lumMod val="75000"/>
                  </a:schemeClr>
                </a:solidFill>
                <a:latin typeface="Arial" panose="020B0604020202020204" pitchFamily="34" charset="0"/>
                <a:cs typeface="Arial" panose="020B0604020202020204" pitchFamily="34" charset="0"/>
              </a:rPr>
              <a:t>S611AIPROJ</a:t>
            </a:r>
          </a:p>
          <a:p>
            <a:pPr algn="ctr">
              <a:lnSpc>
                <a:spcPct val="150000"/>
              </a:lnSpc>
            </a:pPr>
            <a:r>
              <a:rPr lang="en-US" sz="3200" b="1" dirty="0">
                <a:solidFill>
                  <a:schemeClr val="accent2">
                    <a:lumMod val="75000"/>
                  </a:schemeClr>
                </a:solidFill>
                <a:latin typeface="Arial" panose="020B0604020202020204" pitchFamily="34" charset="0"/>
                <a:cs typeface="Arial" panose="020B0604020202020204" pitchFamily="34" charset="0"/>
              </a:rPr>
              <a:t>PROFESSIONAL TRAINING - II </a:t>
            </a:r>
          </a:p>
        </p:txBody>
      </p:sp>
      <p:sp>
        <p:nvSpPr>
          <p:cNvPr id="8" name="Rectangle 7"/>
          <p:cNvSpPr/>
          <p:nvPr/>
        </p:nvSpPr>
        <p:spPr>
          <a:xfrm>
            <a:off x="609600" y="5012693"/>
            <a:ext cx="4641110" cy="1160382"/>
          </a:xfrm>
          <a:prstGeom prst="rect">
            <a:avLst/>
          </a:prstGeom>
        </p:spPr>
        <p:txBody>
          <a:bodyPr wrap="square">
            <a:spAutoFit/>
          </a:bodyPr>
          <a:lstStyle/>
          <a:p>
            <a:pPr>
              <a:lnSpc>
                <a:spcPct val="150000"/>
              </a:lnSpc>
            </a:pPr>
            <a:r>
              <a:rPr lang="en-US" sz="1600" b="1" dirty="0">
                <a:latin typeface="Arial" pitchFamily="34" charset="0"/>
                <a:cs typeface="Arial" pitchFamily="34" charset="0"/>
              </a:rPr>
              <a:t>1. </a:t>
            </a:r>
            <a:r>
              <a:rPr lang="nn-NO" sz="1600" b="1" dirty="0">
                <a:latin typeface="Arial" pitchFamily="34" charset="0"/>
                <a:cs typeface="Arial" pitchFamily="34" charset="0"/>
              </a:rPr>
              <a:t>G Siri Jyothi (Reg no:42611138)</a:t>
            </a:r>
            <a:endParaRPr lang="en-US" sz="1600" b="1" dirty="0">
              <a:latin typeface="Arial" pitchFamily="34" charset="0"/>
              <a:cs typeface="Arial" pitchFamily="34" charset="0"/>
            </a:endParaRPr>
          </a:p>
          <a:p>
            <a:pPr>
              <a:lnSpc>
                <a:spcPct val="150000"/>
              </a:lnSpc>
            </a:pPr>
            <a:endParaRPr lang="en-US" b="1" dirty="0">
              <a:latin typeface="Arial" pitchFamily="34" charset="0"/>
              <a:cs typeface="Arial" pitchFamily="34" charset="0"/>
            </a:endParaRPr>
          </a:p>
          <a:p>
            <a:pPr algn="ctr">
              <a:lnSpc>
                <a:spcPct val="150000"/>
              </a:lnSpc>
            </a:pPr>
            <a:endParaRPr lang="en-US" sz="1400" dirty="0">
              <a:latin typeface="Arial" pitchFamily="34" charset="0"/>
              <a:cs typeface="Arial" pitchFamily="34" charset="0"/>
            </a:endParaRPr>
          </a:p>
        </p:txBody>
      </p:sp>
      <p:sp>
        <p:nvSpPr>
          <p:cNvPr id="4" name="Date Placeholder 3">
            <a:extLst>
              <a:ext uri="{FF2B5EF4-FFF2-40B4-BE49-F238E27FC236}">
                <a16:creationId xmlns:a16="http://schemas.microsoft.com/office/drawing/2014/main" id="{450BD4C8-8F1C-450E-98BD-5D769418970F}"/>
              </a:ext>
            </a:extLst>
          </p:cNvPr>
          <p:cNvSpPr>
            <a:spLocks noGrp="1"/>
          </p:cNvSpPr>
          <p:nvPr>
            <p:ph type="dt" sz="half" idx="10"/>
          </p:nvPr>
        </p:nvSpPr>
        <p:spPr/>
        <p:txBody>
          <a:bodyPr/>
          <a:lstStyle/>
          <a:p>
            <a:fld id="{9BD78B5B-E3B9-4D39-BEDF-8BEE29381C9C}" type="datetime3">
              <a:rPr lang="en-US" smtClean="0"/>
              <a:t>22 April 2025</a:t>
            </a:fld>
            <a:endParaRPr lang="en-US"/>
          </a:p>
        </p:txBody>
      </p:sp>
      <p:sp>
        <p:nvSpPr>
          <p:cNvPr id="6" name="Slide Number Placeholder 5">
            <a:extLst>
              <a:ext uri="{FF2B5EF4-FFF2-40B4-BE49-F238E27FC236}">
                <a16:creationId xmlns:a16="http://schemas.microsoft.com/office/drawing/2014/main" id="{7F1C4EB7-8EDB-4EBE-9273-5F8107C6B564}"/>
              </a:ext>
            </a:extLst>
          </p:cNvPr>
          <p:cNvSpPr>
            <a:spLocks noGrp="1"/>
          </p:cNvSpPr>
          <p:nvPr>
            <p:ph type="sldNum" sz="quarter" idx="12"/>
          </p:nvPr>
        </p:nvSpPr>
        <p:spPr/>
        <p:txBody>
          <a:bodyPr/>
          <a:lstStyle/>
          <a:p>
            <a:fld id="{7B28076C-CE04-4A00-BFAA-A90EA8355859}" type="slidenum">
              <a:rPr lang="en-US" smtClean="0"/>
              <a:pPr/>
              <a:t>1</a:t>
            </a:fld>
            <a:endParaRPr lang="en-US"/>
          </a:p>
        </p:txBody>
      </p:sp>
      <p:pic>
        <p:nvPicPr>
          <p:cNvPr id="12" name="image2.jpeg">
            <a:extLst>
              <a:ext uri="{FF2B5EF4-FFF2-40B4-BE49-F238E27FC236}">
                <a16:creationId xmlns:a16="http://schemas.microsoft.com/office/drawing/2014/main" id="{41D730E6-1A36-D6AA-9C57-707732AD6B86}"/>
              </a:ext>
            </a:extLst>
          </p:cNvPr>
          <p:cNvPicPr/>
          <p:nvPr/>
        </p:nvPicPr>
        <p:blipFill>
          <a:blip r:embed="rId2" cstate="print"/>
          <a:stretch>
            <a:fillRect/>
          </a:stretch>
        </p:blipFill>
        <p:spPr>
          <a:xfrm>
            <a:off x="303028" y="183642"/>
            <a:ext cx="8598195" cy="1843595"/>
          </a:xfrm>
          <a:prstGeom prst="rect">
            <a:avLst/>
          </a:prstGeom>
          <a:ln>
            <a:solidFill>
              <a:srgbClr val="002060"/>
            </a:solidFill>
          </a:ln>
        </p:spPr>
      </p:pic>
      <p:sp>
        <p:nvSpPr>
          <p:cNvPr id="14" name="TextBox 13">
            <a:extLst>
              <a:ext uri="{FF2B5EF4-FFF2-40B4-BE49-F238E27FC236}">
                <a16:creationId xmlns:a16="http://schemas.microsoft.com/office/drawing/2014/main" id="{3D0983F1-418B-F172-25AC-56A554474B23}"/>
              </a:ext>
            </a:extLst>
          </p:cNvPr>
          <p:cNvSpPr txBox="1"/>
          <p:nvPr/>
        </p:nvSpPr>
        <p:spPr>
          <a:xfrm>
            <a:off x="1600200" y="3988369"/>
            <a:ext cx="6172199" cy="584775"/>
          </a:xfrm>
          <a:prstGeom prst="rect">
            <a:avLst/>
          </a:prstGeom>
          <a:noFill/>
        </p:spPr>
        <p:txBody>
          <a:bodyPr wrap="square">
            <a:spAutoFit/>
          </a:bodyPr>
          <a:lstStyle/>
          <a:p>
            <a:pPr algn="ctr"/>
            <a:r>
              <a:rPr lang="en-US" sz="3200" b="1" dirty="0">
                <a:solidFill>
                  <a:srgbClr val="7030A0"/>
                </a:solidFill>
              </a:rPr>
              <a:t>AI POWERED RESUME ANALYZER</a:t>
            </a:r>
            <a:endParaRPr lang="en-IN" sz="3200" dirty="0"/>
          </a:p>
        </p:txBody>
      </p:sp>
      <p:sp>
        <p:nvSpPr>
          <p:cNvPr id="16" name="TextBox 15">
            <a:extLst>
              <a:ext uri="{FF2B5EF4-FFF2-40B4-BE49-F238E27FC236}">
                <a16:creationId xmlns:a16="http://schemas.microsoft.com/office/drawing/2014/main" id="{5E4EFADC-5F7F-0D34-EF41-FCA8211454DE}"/>
              </a:ext>
            </a:extLst>
          </p:cNvPr>
          <p:cNvSpPr txBox="1"/>
          <p:nvPr/>
        </p:nvSpPr>
        <p:spPr>
          <a:xfrm>
            <a:off x="5041425" y="4942425"/>
            <a:ext cx="4641110" cy="785343"/>
          </a:xfrm>
          <a:prstGeom prst="rect">
            <a:avLst/>
          </a:prstGeom>
          <a:noFill/>
        </p:spPr>
        <p:txBody>
          <a:bodyPr wrap="square">
            <a:spAutoFit/>
          </a:bodyPr>
          <a:lstStyle/>
          <a:p>
            <a:pPr>
              <a:lnSpc>
                <a:spcPct val="150000"/>
              </a:lnSpc>
            </a:pPr>
            <a:r>
              <a:rPr lang="en-US" sz="1600" b="1" dirty="0">
                <a:latin typeface="Arial" pitchFamily="34" charset="0"/>
                <a:cs typeface="Arial" pitchFamily="34" charset="0"/>
              </a:rPr>
              <a:t>Internal Guide</a:t>
            </a:r>
          </a:p>
          <a:p>
            <a:pPr>
              <a:lnSpc>
                <a:spcPct val="150000"/>
              </a:lnSpc>
            </a:pPr>
            <a:r>
              <a:rPr lang="en-US" sz="1600" b="1" dirty="0">
                <a:latin typeface="Arial" pitchFamily="34" charset="0"/>
                <a:cs typeface="Arial" pitchFamily="34" charset="0"/>
              </a:rPr>
              <a:t>Ms. R. YUGHA, M.E., Ph.D.,</a:t>
            </a:r>
          </a:p>
        </p:txBody>
      </p:sp>
      <p:sp>
        <p:nvSpPr>
          <p:cNvPr id="2" name="Footer Placeholder 1">
            <a:extLst>
              <a:ext uri="{FF2B5EF4-FFF2-40B4-BE49-F238E27FC236}">
                <a16:creationId xmlns:a16="http://schemas.microsoft.com/office/drawing/2014/main" id="{954E8BE6-5A97-DF17-64D3-651EDD17C775}"/>
              </a:ext>
            </a:extLst>
          </p:cNvPr>
          <p:cNvSpPr>
            <a:spLocks noGrp="1"/>
          </p:cNvSpPr>
          <p:nvPr>
            <p:ph type="ftr" sz="quarter" idx="4294967295"/>
          </p:nvPr>
        </p:nvSpPr>
        <p:spPr>
          <a:xfrm>
            <a:off x="2889398" y="6419380"/>
            <a:ext cx="3429000" cy="365125"/>
          </a:xfrm>
        </p:spPr>
        <p:txBody>
          <a:bodyPr/>
          <a:lstStyle/>
          <a:p>
            <a:r>
              <a:rPr lang="en-US" dirty="0"/>
              <a:t>Department of CSE with AIML</a:t>
            </a:r>
            <a:endParaRPr lang="en-US"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898525"/>
          </a:xfrm>
        </p:spPr>
        <p:txBody>
          <a:bodyPr>
            <a:normAutofit/>
          </a:bodyPr>
          <a:lstStyle/>
          <a:p>
            <a:pPr algn="l"/>
            <a:r>
              <a:rPr lang="en-US" sz="3600" b="1" dirty="0">
                <a:solidFill>
                  <a:srgbClr val="C00000"/>
                </a:solidFill>
                <a:cs typeface="Arial" pitchFamily="34" charset="0"/>
              </a:rPr>
              <a:t>                PRESENTATION OUTLINE</a:t>
            </a:r>
          </a:p>
        </p:txBody>
      </p:sp>
      <p:sp>
        <p:nvSpPr>
          <p:cNvPr id="3" name="Content Placeholder 2"/>
          <p:cNvSpPr>
            <a:spLocks noGrp="1"/>
          </p:cNvSpPr>
          <p:nvPr>
            <p:ph idx="1"/>
          </p:nvPr>
        </p:nvSpPr>
        <p:spPr>
          <a:xfrm>
            <a:off x="609600" y="1371600"/>
            <a:ext cx="8229600" cy="5105400"/>
          </a:xfrm>
        </p:spPr>
        <p:txBody>
          <a:bodyPr>
            <a:normAutofit fontScale="92500" lnSpcReduction="20000"/>
          </a:bodyPr>
          <a:lstStyle/>
          <a:p>
            <a:pPr>
              <a:lnSpc>
                <a:spcPct val="150000"/>
              </a:lnSpc>
            </a:pPr>
            <a:r>
              <a:rPr lang="en-US" sz="2600" dirty="0">
                <a:cs typeface="Arial" pitchFamily="34" charset="0"/>
              </a:rPr>
              <a:t>COURSE CERTIFICATE</a:t>
            </a:r>
          </a:p>
          <a:p>
            <a:pPr>
              <a:lnSpc>
                <a:spcPct val="150000"/>
              </a:lnSpc>
            </a:pPr>
            <a:r>
              <a:rPr lang="en-US" sz="2600" dirty="0">
                <a:cs typeface="Arial" pitchFamily="34" charset="0"/>
              </a:rPr>
              <a:t>ABSTRACT</a:t>
            </a:r>
          </a:p>
          <a:p>
            <a:pPr>
              <a:lnSpc>
                <a:spcPct val="150000"/>
              </a:lnSpc>
            </a:pPr>
            <a:r>
              <a:rPr lang="en-US" sz="2600" dirty="0">
                <a:cs typeface="Arial" pitchFamily="34" charset="0"/>
              </a:rPr>
              <a:t>OBJECTIVES</a:t>
            </a:r>
          </a:p>
          <a:p>
            <a:pPr>
              <a:lnSpc>
                <a:spcPct val="150000"/>
              </a:lnSpc>
            </a:pPr>
            <a:r>
              <a:rPr lang="en-US" sz="2600" dirty="0">
                <a:cs typeface="Arial" pitchFamily="34" charset="0"/>
              </a:rPr>
              <a:t>SYSTEM ARCHITECTURE </a:t>
            </a:r>
          </a:p>
          <a:p>
            <a:pPr>
              <a:lnSpc>
                <a:spcPct val="150000"/>
              </a:lnSpc>
            </a:pPr>
            <a:r>
              <a:rPr lang="en-US" sz="2600" dirty="0">
                <a:cs typeface="Arial" pitchFamily="34" charset="0"/>
              </a:rPr>
              <a:t>PROJECT IMPLEMENTATION</a:t>
            </a:r>
          </a:p>
          <a:p>
            <a:pPr>
              <a:lnSpc>
                <a:spcPct val="150000"/>
              </a:lnSpc>
            </a:pPr>
            <a:r>
              <a:rPr lang="en-US" sz="2600" dirty="0">
                <a:cs typeface="Arial" pitchFamily="34" charset="0"/>
              </a:rPr>
              <a:t>RESULTS AND DISCUSSIONS</a:t>
            </a:r>
          </a:p>
          <a:p>
            <a:pPr>
              <a:lnSpc>
                <a:spcPct val="150000"/>
              </a:lnSpc>
            </a:pPr>
            <a:r>
              <a:rPr lang="en-US" sz="2600" dirty="0">
                <a:cs typeface="Arial" pitchFamily="34" charset="0"/>
              </a:rPr>
              <a:t>RESULT SNAPSHOTS</a:t>
            </a:r>
          </a:p>
          <a:p>
            <a:pPr>
              <a:lnSpc>
                <a:spcPct val="150000"/>
              </a:lnSpc>
            </a:pPr>
            <a:r>
              <a:rPr lang="en-US" sz="2600" dirty="0">
                <a:cs typeface="Arial" pitchFamily="34" charset="0"/>
              </a:rPr>
              <a:t>CONCLUSION &amp; FUTURE WORK</a:t>
            </a:r>
          </a:p>
          <a:p>
            <a:pPr>
              <a:lnSpc>
                <a:spcPct val="150000"/>
              </a:lnSpc>
            </a:pPr>
            <a:r>
              <a:rPr lang="en-US" sz="2600" dirty="0">
                <a:cs typeface="Arial" pitchFamily="34" charset="0"/>
              </a:rPr>
              <a:t>REFERENCES</a:t>
            </a:r>
          </a:p>
          <a:p>
            <a:endParaRPr lang="en-US" dirty="0"/>
          </a:p>
        </p:txBody>
      </p:sp>
      <p:sp>
        <p:nvSpPr>
          <p:cNvPr id="4" name="Date Placeholder 3"/>
          <p:cNvSpPr>
            <a:spLocks noGrp="1"/>
          </p:cNvSpPr>
          <p:nvPr>
            <p:ph type="dt" sz="half" idx="10"/>
          </p:nvPr>
        </p:nvSpPr>
        <p:spPr/>
        <p:txBody>
          <a:bodyPr/>
          <a:lstStyle/>
          <a:p>
            <a:fld id="{0D898D5C-4E44-4D10-B68E-79F9CEED757A}" type="datetime3">
              <a:rPr lang="en-US" smtClean="0"/>
              <a:t>22 April 2025</a:t>
            </a:fld>
            <a:endParaRPr lang="en-US" dirty="0"/>
          </a:p>
        </p:txBody>
      </p:sp>
      <p:sp>
        <p:nvSpPr>
          <p:cNvPr id="6" name="Slide Number Placeholder 5"/>
          <p:cNvSpPr>
            <a:spLocks noGrp="1"/>
          </p:cNvSpPr>
          <p:nvPr>
            <p:ph type="sldNum" sz="quarter" idx="12"/>
          </p:nvPr>
        </p:nvSpPr>
        <p:spPr/>
        <p:txBody>
          <a:bodyPr/>
          <a:lstStyle/>
          <a:p>
            <a:fld id="{C0EC1BDC-9B67-430D-970A-E36C75175141}"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87AFF-3BB7-4D8A-B9C5-8F3B0AEE6AD3}"/>
              </a:ext>
            </a:extLst>
          </p:cNvPr>
          <p:cNvSpPr>
            <a:spLocks noGrp="1"/>
          </p:cNvSpPr>
          <p:nvPr>
            <p:ph type="title"/>
          </p:nvPr>
        </p:nvSpPr>
        <p:spPr>
          <a:xfrm>
            <a:off x="304800" y="282575"/>
            <a:ext cx="8229600" cy="838200"/>
          </a:xfrm>
        </p:spPr>
        <p:txBody>
          <a:bodyPr>
            <a:normAutofit/>
          </a:bodyPr>
          <a:lstStyle/>
          <a:p>
            <a:r>
              <a:rPr lang="en-IN" sz="3600" b="1" dirty="0">
                <a:solidFill>
                  <a:srgbClr val="C00000"/>
                </a:solidFill>
              </a:rPr>
              <a:t>COURSE CERTIFICATE</a:t>
            </a:r>
          </a:p>
        </p:txBody>
      </p:sp>
      <p:sp>
        <p:nvSpPr>
          <p:cNvPr id="4" name="Date Placeholder 3">
            <a:extLst>
              <a:ext uri="{FF2B5EF4-FFF2-40B4-BE49-F238E27FC236}">
                <a16:creationId xmlns:a16="http://schemas.microsoft.com/office/drawing/2014/main" id="{0FA9D9BB-15EC-4B1C-83FD-B26D5A9132AA}"/>
              </a:ext>
            </a:extLst>
          </p:cNvPr>
          <p:cNvSpPr>
            <a:spLocks noGrp="1"/>
          </p:cNvSpPr>
          <p:nvPr>
            <p:ph type="dt" sz="half" idx="10"/>
          </p:nvPr>
        </p:nvSpPr>
        <p:spPr/>
        <p:txBody>
          <a:bodyPr/>
          <a:lstStyle/>
          <a:p>
            <a:fld id="{D7D9853D-49D4-4403-B229-95084F7F33F8}" type="datetime3">
              <a:rPr lang="en-US" smtClean="0"/>
              <a:t>22 April 2025</a:t>
            </a:fld>
            <a:endParaRPr lang="en-US"/>
          </a:p>
        </p:txBody>
      </p:sp>
      <p:sp>
        <p:nvSpPr>
          <p:cNvPr id="6" name="Slide Number Placeholder 5">
            <a:extLst>
              <a:ext uri="{FF2B5EF4-FFF2-40B4-BE49-F238E27FC236}">
                <a16:creationId xmlns:a16="http://schemas.microsoft.com/office/drawing/2014/main" id="{EDF5E134-5B36-43B6-B88A-0BD46D92CA57}"/>
              </a:ext>
            </a:extLst>
          </p:cNvPr>
          <p:cNvSpPr>
            <a:spLocks noGrp="1"/>
          </p:cNvSpPr>
          <p:nvPr>
            <p:ph type="sldNum" sz="quarter" idx="12"/>
          </p:nvPr>
        </p:nvSpPr>
        <p:spPr/>
        <p:txBody>
          <a:bodyPr/>
          <a:lstStyle/>
          <a:p>
            <a:fld id="{7B28076C-CE04-4A00-BFAA-A90EA8355859}" type="slidenum">
              <a:rPr lang="en-US" smtClean="0"/>
              <a:pPr/>
              <a:t>3</a:t>
            </a:fld>
            <a:endParaRPr lang="en-US" dirty="0"/>
          </a:p>
        </p:txBody>
      </p:sp>
      <p:pic>
        <p:nvPicPr>
          <p:cNvPr id="3" name="Picture 2">
            <a:extLst>
              <a:ext uri="{FF2B5EF4-FFF2-40B4-BE49-F238E27FC236}">
                <a16:creationId xmlns:a16="http://schemas.microsoft.com/office/drawing/2014/main" id="{963ABE40-FD6F-781B-D7FC-EE67C31D5A7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1619001"/>
            <a:ext cx="7543800" cy="4622256"/>
          </a:xfrm>
          <a:prstGeom prst="rect">
            <a:avLst/>
          </a:prstGeom>
          <a:noFill/>
          <a:ln>
            <a:noFill/>
          </a:ln>
        </p:spPr>
      </p:pic>
      <p:sp>
        <p:nvSpPr>
          <p:cNvPr id="7" name="Content Placeholder 6">
            <a:extLst>
              <a:ext uri="{FF2B5EF4-FFF2-40B4-BE49-F238E27FC236}">
                <a16:creationId xmlns:a16="http://schemas.microsoft.com/office/drawing/2014/main" id="{F5E25305-0692-E7C5-5132-C894689E185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250975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E11B5-EF77-467A-8E2A-BB4AD0D87B13}"/>
              </a:ext>
            </a:extLst>
          </p:cNvPr>
          <p:cNvSpPr>
            <a:spLocks noGrp="1"/>
          </p:cNvSpPr>
          <p:nvPr>
            <p:ph type="title"/>
          </p:nvPr>
        </p:nvSpPr>
        <p:spPr>
          <a:xfrm>
            <a:off x="298940" y="282575"/>
            <a:ext cx="8229600" cy="838200"/>
          </a:xfrm>
        </p:spPr>
        <p:txBody>
          <a:bodyPr>
            <a:normAutofit/>
          </a:bodyPr>
          <a:lstStyle/>
          <a:p>
            <a:r>
              <a:rPr lang="en-IN" sz="3600" b="1" dirty="0">
                <a:solidFill>
                  <a:srgbClr val="C00000"/>
                </a:solidFill>
              </a:rPr>
              <a:t>ABSTRACT</a:t>
            </a:r>
          </a:p>
        </p:txBody>
      </p:sp>
      <p:sp>
        <p:nvSpPr>
          <p:cNvPr id="3" name="Content Placeholder 2">
            <a:extLst>
              <a:ext uri="{FF2B5EF4-FFF2-40B4-BE49-F238E27FC236}">
                <a16:creationId xmlns:a16="http://schemas.microsoft.com/office/drawing/2014/main" id="{59EF7A90-AAE4-4CE3-8BFD-8CCF7FBE10DD}"/>
              </a:ext>
            </a:extLst>
          </p:cNvPr>
          <p:cNvSpPr>
            <a:spLocks noGrp="1"/>
          </p:cNvSpPr>
          <p:nvPr>
            <p:ph idx="1"/>
          </p:nvPr>
        </p:nvSpPr>
        <p:spPr>
          <a:xfrm>
            <a:off x="491613" y="1676400"/>
            <a:ext cx="8229600" cy="5181600"/>
          </a:xfrm>
        </p:spPr>
        <p:txBody>
          <a:bodyPr>
            <a:normAutofit/>
          </a:bodyPr>
          <a:lstStyle/>
          <a:p>
            <a:pPr algn="just"/>
            <a:r>
              <a:rPr lang="en-US" sz="2200" dirty="0"/>
              <a:t>Automates resume screening using NLP and machine learning to extract key candidate details from various formats (PDF, DOCX, etc.)  </a:t>
            </a:r>
          </a:p>
          <a:p>
            <a:pPr algn="just"/>
            <a:r>
              <a:rPr lang="en-US" sz="2200" dirty="0"/>
              <a:t>Compares resumes with job descriptions through keyword matching, semantic analysis, and similarity scoring  </a:t>
            </a:r>
          </a:p>
          <a:p>
            <a:pPr algn="just"/>
            <a:r>
              <a:rPr lang="en-US" sz="2200" dirty="0"/>
              <a:t>Ranks candidates based on relevance and job fit to streamline shortlisting  </a:t>
            </a:r>
          </a:p>
          <a:p>
            <a:pPr algn="just"/>
            <a:r>
              <a:rPr lang="en-US" sz="2200" dirty="0"/>
              <a:t>Offers skill gap analysis, customizable filters, and visual dashboards for better decision making  </a:t>
            </a:r>
          </a:p>
          <a:p>
            <a:pPr algn="just"/>
            <a:r>
              <a:rPr lang="en-US" sz="2200" dirty="0"/>
              <a:t>Reduces manual effort, minimizes bias, and improves evaluation accuracy  </a:t>
            </a:r>
          </a:p>
          <a:p>
            <a:pPr algn="just"/>
            <a:r>
              <a:rPr lang="en-US" sz="2200" dirty="0"/>
              <a:t>Scalable solution compatible with existing ATS, adaptable across industries for smarter, data-driven hiring decisions</a:t>
            </a:r>
          </a:p>
        </p:txBody>
      </p:sp>
      <p:sp>
        <p:nvSpPr>
          <p:cNvPr id="4" name="Date Placeholder 3">
            <a:extLst>
              <a:ext uri="{FF2B5EF4-FFF2-40B4-BE49-F238E27FC236}">
                <a16:creationId xmlns:a16="http://schemas.microsoft.com/office/drawing/2014/main" id="{D7EBA610-CC19-4227-B31D-DD5952D5132F}"/>
              </a:ext>
            </a:extLst>
          </p:cNvPr>
          <p:cNvSpPr>
            <a:spLocks noGrp="1"/>
          </p:cNvSpPr>
          <p:nvPr>
            <p:ph type="dt" sz="half" idx="10"/>
          </p:nvPr>
        </p:nvSpPr>
        <p:spPr/>
        <p:txBody>
          <a:bodyPr/>
          <a:lstStyle/>
          <a:p>
            <a:fld id="{0658CAD9-1E2F-4DF3-B438-1A7410667DBB}" type="datetime3">
              <a:rPr lang="en-US" smtClean="0"/>
              <a:t>22 April 2025</a:t>
            </a:fld>
            <a:endParaRPr lang="en-US"/>
          </a:p>
        </p:txBody>
      </p:sp>
      <p:sp>
        <p:nvSpPr>
          <p:cNvPr id="6" name="Slide Number Placeholder 5">
            <a:extLst>
              <a:ext uri="{FF2B5EF4-FFF2-40B4-BE49-F238E27FC236}">
                <a16:creationId xmlns:a16="http://schemas.microsoft.com/office/drawing/2014/main" id="{6FB8A523-CF78-4D69-9924-645284BC54A5}"/>
              </a:ext>
            </a:extLst>
          </p:cNvPr>
          <p:cNvSpPr>
            <a:spLocks noGrp="1"/>
          </p:cNvSpPr>
          <p:nvPr>
            <p:ph type="sldNum" sz="quarter" idx="12"/>
          </p:nvPr>
        </p:nvSpPr>
        <p:spPr/>
        <p:txBody>
          <a:bodyPr/>
          <a:lstStyle/>
          <a:p>
            <a:fld id="{7B28076C-CE04-4A00-BFAA-A90EA8355859}" type="slidenum">
              <a:rPr lang="en-US" smtClean="0"/>
              <a:pPr/>
              <a:t>4</a:t>
            </a:fld>
            <a:endParaRPr lang="en-US"/>
          </a:p>
        </p:txBody>
      </p:sp>
    </p:spTree>
    <p:extLst>
      <p:ext uri="{BB962C8B-B14F-4D97-AF65-F5344CB8AC3E}">
        <p14:creationId xmlns:p14="http://schemas.microsoft.com/office/powerpoint/2010/main" val="36961216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p>
            <a:fld id="{CAC16C75-187B-4BC9-A342-F8ECC4742758}" type="datetime3">
              <a:rPr lang="en-US" smtClean="0"/>
              <a:t>22 April 2025</a:t>
            </a:fld>
            <a:endParaRPr lang="en-US"/>
          </a:p>
        </p:txBody>
      </p:sp>
      <p:sp>
        <p:nvSpPr>
          <p:cNvPr id="9" name="Slide Number Placeholder 8"/>
          <p:cNvSpPr>
            <a:spLocks noGrp="1"/>
          </p:cNvSpPr>
          <p:nvPr>
            <p:ph type="sldNum" sz="quarter" idx="12"/>
          </p:nvPr>
        </p:nvSpPr>
        <p:spPr/>
        <p:txBody>
          <a:bodyPr/>
          <a:lstStyle/>
          <a:p>
            <a:fld id="{7B28076C-CE04-4A00-BFAA-A90EA8355859}" type="slidenum">
              <a:rPr lang="en-US" smtClean="0"/>
              <a:pPr/>
              <a:t>5</a:t>
            </a:fld>
            <a:endParaRPr lang="en-US"/>
          </a:p>
        </p:txBody>
      </p:sp>
      <p:sp>
        <p:nvSpPr>
          <p:cNvPr id="10" name="Title 1"/>
          <p:cNvSpPr>
            <a:spLocks noGrp="1"/>
          </p:cNvSpPr>
          <p:nvPr>
            <p:ph type="title"/>
          </p:nvPr>
        </p:nvSpPr>
        <p:spPr>
          <a:xfrm>
            <a:off x="495300" y="381000"/>
            <a:ext cx="8229600" cy="655638"/>
          </a:xfrm>
        </p:spPr>
        <p:txBody>
          <a:bodyPr>
            <a:normAutofit/>
          </a:bodyPr>
          <a:lstStyle/>
          <a:p>
            <a:pPr algn="l"/>
            <a:r>
              <a:rPr lang="en-US" sz="3600" b="1" dirty="0">
                <a:solidFill>
                  <a:srgbClr val="C00000"/>
                </a:solidFill>
                <a:cs typeface="Arial" pitchFamily="34" charset="0"/>
              </a:rPr>
              <a:t>                           OBJECTIVES</a:t>
            </a:r>
          </a:p>
        </p:txBody>
      </p:sp>
      <p:sp>
        <p:nvSpPr>
          <p:cNvPr id="11" name="Content Placeholder 2"/>
          <p:cNvSpPr>
            <a:spLocks noGrp="1"/>
          </p:cNvSpPr>
          <p:nvPr>
            <p:ph idx="1"/>
          </p:nvPr>
        </p:nvSpPr>
        <p:spPr>
          <a:xfrm>
            <a:off x="533400" y="1447800"/>
            <a:ext cx="8153400" cy="5715000"/>
          </a:xfrm>
        </p:spPr>
        <p:txBody>
          <a:bodyPr>
            <a:normAutofit/>
          </a:bodyPr>
          <a:lstStyle/>
          <a:p>
            <a:pPr algn="just"/>
            <a:r>
              <a:rPr lang="en-US" sz="2200" dirty="0"/>
              <a:t>Emphasizes the importance of clear requirement analysis for guiding software design, implementation, testing, and deployment  </a:t>
            </a:r>
          </a:p>
          <a:p>
            <a:pPr algn="just"/>
            <a:r>
              <a:rPr lang="en-US" sz="2200" dirty="0"/>
              <a:t>Focuses on building a robust, user-friendly, and scalable Research Paper AI-powered resume analyzer adaptable to academic contexts  </a:t>
            </a:r>
          </a:p>
          <a:p>
            <a:pPr algn="just"/>
            <a:r>
              <a:rPr lang="en-US" sz="2200" dirty="0"/>
              <a:t>Defines both functional and non-functional requirements to ensure system effectiveness and usability  </a:t>
            </a:r>
          </a:p>
          <a:p>
            <a:pPr algn="just"/>
            <a:r>
              <a:rPr lang="en-US" sz="2200" dirty="0"/>
              <a:t>Processes uploaded PDFs to extract structured content for detailed analysis using advanced language models  </a:t>
            </a:r>
          </a:p>
          <a:p>
            <a:pPr algn="just"/>
            <a:r>
              <a:rPr lang="en-US" sz="2200" dirty="0"/>
              <a:t>Provides section summaries, identifies research gaps, and offers constructive suggestions beyond simple text summarization  </a:t>
            </a:r>
          </a:p>
          <a:p>
            <a:pPr algn="just"/>
            <a:r>
              <a:rPr lang="en-US" sz="2200" dirty="0"/>
              <a:t>Combines document parsing, NLP, large language models, and user-focused interface design to simulate human-like review feedback</a:t>
            </a:r>
          </a:p>
        </p:txBody>
      </p:sp>
    </p:spTree>
    <p:extLst>
      <p:ext uri="{BB962C8B-B14F-4D97-AF65-F5344CB8AC3E}">
        <p14:creationId xmlns:p14="http://schemas.microsoft.com/office/powerpoint/2010/main" val="31859722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a:spLocks noGrp="1"/>
          </p:cNvSpPr>
          <p:nvPr>
            <p:ph type="title"/>
          </p:nvPr>
        </p:nvSpPr>
        <p:spPr>
          <a:xfrm>
            <a:off x="482009" y="285398"/>
            <a:ext cx="8229600" cy="809711"/>
          </a:xfrm>
        </p:spPr>
        <p:txBody>
          <a:bodyPr>
            <a:normAutofit/>
          </a:bodyPr>
          <a:lstStyle/>
          <a:p>
            <a:pPr algn="l"/>
            <a:r>
              <a:rPr lang="en-US" sz="3600" b="1" dirty="0">
                <a:solidFill>
                  <a:srgbClr val="C00000"/>
                </a:solidFill>
                <a:cs typeface="Arial" pitchFamily="34" charset="0"/>
              </a:rPr>
              <a:t>                  SYSTEM ARCHITECTURE</a:t>
            </a:r>
            <a:endParaRPr lang="en-US" sz="3600" b="1" dirty="0">
              <a:solidFill>
                <a:srgbClr val="C00000"/>
              </a:solidFill>
            </a:endParaRPr>
          </a:p>
        </p:txBody>
      </p:sp>
      <p:sp>
        <p:nvSpPr>
          <p:cNvPr id="4" name="Date Placeholder 3"/>
          <p:cNvSpPr>
            <a:spLocks noGrp="1"/>
          </p:cNvSpPr>
          <p:nvPr>
            <p:ph type="dt" sz="half" idx="10"/>
          </p:nvPr>
        </p:nvSpPr>
        <p:spPr/>
        <p:txBody>
          <a:bodyPr/>
          <a:lstStyle/>
          <a:p>
            <a:fld id="{67D723A1-9CC6-4C0B-8B6C-BDD66FCFE1B5}" type="datetime3">
              <a:rPr lang="en-US" smtClean="0"/>
              <a:t>22 April 2025</a:t>
            </a:fld>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pPr/>
              <a:t>6</a:t>
            </a:fld>
            <a:endParaRPr lang="en-US"/>
          </a:p>
        </p:txBody>
      </p:sp>
      <p:pic>
        <p:nvPicPr>
          <p:cNvPr id="7" name="Image 10">
            <a:extLst>
              <a:ext uri="{FF2B5EF4-FFF2-40B4-BE49-F238E27FC236}">
                <a16:creationId xmlns:a16="http://schemas.microsoft.com/office/drawing/2014/main" id="{52BA08BA-BB2C-45C4-E473-3C7FB8E36AE5}"/>
              </a:ext>
            </a:extLst>
          </p:cNvPr>
          <p:cNvPicPr>
            <a:picLocks noGrp="1"/>
          </p:cNvPicPr>
          <p:nvPr>
            <p:ph idx="1"/>
          </p:nvPr>
        </p:nvPicPr>
        <p:blipFill>
          <a:blip r:embed="rId3" cstate="print"/>
          <a:stretch>
            <a:fillRect/>
          </a:stretch>
        </p:blipFill>
        <p:spPr>
          <a:xfrm>
            <a:off x="2133600" y="1447800"/>
            <a:ext cx="5181600" cy="4908550"/>
          </a:xfrm>
          <a:prstGeom prst="rect">
            <a:avLst/>
          </a:prstGeom>
        </p:spPr>
      </p:pic>
    </p:spTree>
    <p:extLst>
      <p:ext uri="{BB962C8B-B14F-4D97-AF65-F5344CB8AC3E}">
        <p14:creationId xmlns:p14="http://schemas.microsoft.com/office/powerpoint/2010/main" val="3978552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C72C053-A606-43A8-AC93-3F48BD11658E}" type="datetime3">
              <a:rPr lang="en-US" smtClean="0"/>
              <a:t>22 April 2025</a:t>
            </a:fld>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pPr/>
              <a:t>7</a:t>
            </a:fld>
            <a:endParaRPr lang="en-US" dirty="0"/>
          </a:p>
        </p:txBody>
      </p:sp>
      <p:sp>
        <p:nvSpPr>
          <p:cNvPr id="7" name="Title 1"/>
          <p:cNvSpPr>
            <a:spLocks noGrp="1"/>
          </p:cNvSpPr>
          <p:nvPr>
            <p:ph type="title"/>
          </p:nvPr>
        </p:nvSpPr>
        <p:spPr>
          <a:xfrm>
            <a:off x="304800" y="304800"/>
            <a:ext cx="8229600" cy="655638"/>
          </a:xfrm>
        </p:spPr>
        <p:txBody>
          <a:bodyPr>
            <a:normAutofit fontScale="90000"/>
          </a:bodyPr>
          <a:lstStyle/>
          <a:p>
            <a:pPr algn="l"/>
            <a:r>
              <a:rPr lang="en-US" sz="3600" b="1" dirty="0">
                <a:solidFill>
                  <a:srgbClr val="C00000"/>
                </a:solidFill>
                <a:cs typeface="Arial" pitchFamily="34" charset="0"/>
              </a:rPr>
              <a:t>HARDWARE AND SOFTWARE REQUIREMENTS</a:t>
            </a:r>
          </a:p>
        </p:txBody>
      </p:sp>
      <p:sp>
        <p:nvSpPr>
          <p:cNvPr id="8" name="Content Placeholder 2"/>
          <p:cNvSpPr>
            <a:spLocks noGrp="1"/>
          </p:cNvSpPr>
          <p:nvPr>
            <p:ph idx="1"/>
          </p:nvPr>
        </p:nvSpPr>
        <p:spPr>
          <a:xfrm>
            <a:off x="609600" y="1447800"/>
            <a:ext cx="8305800" cy="5638800"/>
          </a:xfrm>
        </p:spPr>
        <p:txBody>
          <a:bodyPr>
            <a:normAutofit/>
          </a:bodyPr>
          <a:lstStyle/>
          <a:p>
            <a:pPr>
              <a:lnSpc>
                <a:spcPct val="150000"/>
              </a:lnSpc>
            </a:pPr>
            <a:r>
              <a:rPr lang="en-US" sz="2400" dirty="0">
                <a:cs typeface="Arial" pitchFamily="34" charset="0"/>
              </a:rPr>
              <a:t>Software Requirements</a:t>
            </a:r>
          </a:p>
          <a:p>
            <a:pPr lvl="1">
              <a:lnSpc>
                <a:spcPct val="150000"/>
              </a:lnSpc>
            </a:pPr>
            <a:r>
              <a:rPr lang="en-US" sz="2400" dirty="0">
                <a:cs typeface="Arial" pitchFamily="34" charset="0"/>
              </a:rPr>
              <a:t>Jupyter Notebook  - Project environment</a:t>
            </a:r>
          </a:p>
          <a:p>
            <a:pPr lvl="1">
              <a:lnSpc>
                <a:spcPct val="150000"/>
              </a:lnSpc>
            </a:pPr>
            <a:r>
              <a:rPr lang="en-US" sz="2400" dirty="0">
                <a:cs typeface="Arial" pitchFamily="34" charset="0"/>
              </a:rPr>
              <a:t>Pandas – Convert  dataset into data-frame</a:t>
            </a:r>
          </a:p>
          <a:p>
            <a:pPr lvl="1">
              <a:lnSpc>
                <a:spcPct val="150000"/>
              </a:lnSpc>
            </a:pPr>
            <a:r>
              <a:rPr lang="en-US" sz="2400" dirty="0">
                <a:cs typeface="Arial" pitchFamily="34" charset="0"/>
              </a:rPr>
              <a:t>Matplot , Seaborn – Used to visualize the dataset</a:t>
            </a:r>
          </a:p>
          <a:p>
            <a:pPr lvl="1">
              <a:lnSpc>
                <a:spcPct val="150000"/>
              </a:lnSpc>
            </a:pPr>
            <a:r>
              <a:rPr lang="en-US" sz="2400" dirty="0">
                <a:cs typeface="Arial" pitchFamily="34" charset="0"/>
              </a:rPr>
              <a:t>SkLearn module – To import all types ML algorithms</a:t>
            </a:r>
          </a:p>
          <a:p>
            <a:pPr>
              <a:lnSpc>
                <a:spcPct val="150000"/>
              </a:lnSpc>
            </a:pPr>
            <a:r>
              <a:rPr lang="en-US" sz="2400" dirty="0">
                <a:cs typeface="Arial" pitchFamily="34" charset="0"/>
              </a:rPr>
              <a:t>Hardware Requirements</a:t>
            </a:r>
          </a:p>
          <a:p>
            <a:pPr lvl="1">
              <a:lnSpc>
                <a:spcPct val="150000"/>
              </a:lnSpc>
            </a:pPr>
            <a:r>
              <a:rPr lang="en-US" sz="2400" dirty="0">
                <a:cs typeface="Arial" pitchFamily="34" charset="0"/>
              </a:rPr>
              <a:t>GPU</a:t>
            </a:r>
          </a:p>
          <a:p>
            <a:pPr lvl="1">
              <a:lnSpc>
                <a:spcPct val="150000"/>
              </a:lnSpc>
            </a:pPr>
            <a:r>
              <a:rPr lang="en-US" sz="2400" dirty="0">
                <a:cs typeface="Arial" pitchFamily="34" charset="0"/>
              </a:rPr>
              <a:t>Any Operating System</a:t>
            </a:r>
          </a:p>
          <a:p>
            <a:pPr lvl="2">
              <a:lnSpc>
                <a:spcPct val="170000"/>
              </a:lnSpc>
            </a:pPr>
            <a:endParaRPr lang="en-US" sz="2800" dirty="0">
              <a:solidFill>
                <a:srgbClr val="292929"/>
              </a:solidFill>
              <a:cs typeface="Arial" panose="020B0604020202020204" pitchFamily="34" charset="0"/>
            </a:endParaRPr>
          </a:p>
          <a:p>
            <a:pPr lvl="2">
              <a:lnSpc>
                <a:spcPct val="170000"/>
              </a:lnSpc>
            </a:pPr>
            <a:endParaRPr lang="en-US" sz="2800" dirty="0">
              <a:solidFill>
                <a:srgbClr val="292929"/>
              </a:solidFill>
              <a:cs typeface="Arial" panose="020B0604020202020204" pitchFamily="34" charset="0"/>
            </a:endParaRPr>
          </a:p>
          <a:p>
            <a:pPr lvl="1">
              <a:lnSpc>
                <a:spcPct val="150000"/>
              </a:lnSpc>
            </a:pPr>
            <a:endParaRPr lang="en-US" sz="2400" dirty="0">
              <a:latin typeface="Arial" pitchFamily="34" charset="0"/>
              <a:cs typeface="Arial" pitchFamily="34" charset="0"/>
            </a:endParaRPr>
          </a:p>
          <a:p>
            <a:pPr>
              <a:buNone/>
            </a:pPr>
            <a:endParaRPr lang="en-US" dirty="0"/>
          </a:p>
        </p:txBody>
      </p:sp>
    </p:spTree>
    <p:extLst>
      <p:ext uri="{BB962C8B-B14F-4D97-AF65-F5344CB8AC3E}">
        <p14:creationId xmlns:p14="http://schemas.microsoft.com/office/powerpoint/2010/main" val="2526487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1DF3B-CCB1-4769-B759-BAB65C5F7695}"/>
              </a:ext>
            </a:extLst>
          </p:cNvPr>
          <p:cNvSpPr>
            <a:spLocks noGrp="1"/>
          </p:cNvSpPr>
          <p:nvPr>
            <p:ph type="title"/>
          </p:nvPr>
        </p:nvSpPr>
        <p:spPr>
          <a:xfrm>
            <a:off x="609600" y="228600"/>
            <a:ext cx="8229600" cy="854075"/>
          </a:xfrm>
        </p:spPr>
        <p:txBody>
          <a:bodyPr>
            <a:normAutofit/>
          </a:bodyPr>
          <a:lstStyle/>
          <a:p>
            <a:r>
              <a:rPr lang="en-US" sz="3600" b="1" dirty="0">
                <a:solidFill>
                  <a:srgbClr val="C00000"/>
                </a:solidFill>
                <a:cs typeface="Arial" pitchFamily="34" charset="0"/>
              </a:rPr>
              <a:t>  DATASET DESCRIPTION</a:t>
            </a:r>
            <a:endParaRPr lang="en-IN" sz="3600" dirty="0"/>
          </a:p>
        </p:txBody>
      </p:sp>
      <p:sp>
        <p:nvSpPr>
          <p:cNvPr id="3" name="Content Placeholder 2">
            <a:extLst>
              <a:ext uri="{FF2B5EF4-FFF2-40B4-BE49-F238E27FC236}">
                <a16:creationId xmlns:a16="http://schemas.microsoft.com/office/drawing/2014/main" id="{148C9B57-DE89-4E88-B948-E8C1FB968481}"/>
              </a:ext>
            </a:extLst>
          </p:cNvPr>
          <p:cNvSpPr>
            <a:spLocks noGrp="1"/>
          </p:cNvSpPr>
          <p:nvPr>
            <p:ph idx="1"/>
          </p:nvPr>
        </p:nvSpPr>
        <p:spPr>
          <a:xfrm>
            <a:off x="381000" y="1252868"/>
            <a:ext cx="8686800" cy="6629400"/>
          </a:xfrm>
        </p:spPr>
        <p:txBody>
          <a:bodyPr>
            <a:normAutofit/>
          </a:bodyPr>
          <a:lstStyle/>
          <a:p>
            <a:r>
              <a:rPr lang="en-US" sz="2200" dirty="0"/>
              <a:t>0perates as a zero-shot and few-shot inference system, eliminating the need for precompiled or annotated datasets  </a:t>
            </a:r>
          </a:p>
          <a:p>
            <a:r>
              <a:rPr lang="en-US" sz="2200" dirty="0"/>
              <a:t>Utilizes large pre-trained language models (LLMs) like GPT-3.5 or GPT-4 through API integration  </a:t>
            </a:r>
          </a:p>
          <a:p>
            <a:r>
              <a:rPr lang="en-US" sz="2200" dirty="0"/>
              <a:t>Leverages knowledge from extensive corpora, including scientific journals, academic sites, books, and public domain content  </a:t>
            </a:r>
          </a:p>
          <a:p>
            <a:r>
              <a:rPr lang="en-US" sz="2200" dirty="0"/>
              <a:t>LLMs serve as implicit datasets, having internalized patterns and norms of academic writing  </a:t>
            </a:r>
          </a:p>
          <a:p>
            <a:r>
              <a:rPr lang="en-US" sz="2200" dirty="0"/>
              <a:t>Enables real-time interpretation and critique of documents without manual labeling or training data  </a:t>
            </a:r>
          </a:p>
          <a:p>
            <a:r>
              <a:rPr lang="en-US" sz="2200" dirty="0"/>
              <a:t>Employs advanced prompt engineering to simulate expert-level analysis and feedback</a:t>
            </a:r>
            <a:endParaRPr lang="en-IN" sz="2200" dirty="0"/>
          </a:p>
        </p:txBody>
      </p:sp>
      <p:sp>
        <p:nvSpPr>
          <p:cNvPr id="4" name="Date Placeholder 3">
            <a:extLst>
              <a:ext uri="{FF2B5EF4-FFF2-40B4-BE49-F238E27FC236}">
                <a16:creationId xmlns:a16="http://schemas.microsoft.com/office/drawing/2014/main" id="{2FBD52CA-C05E-4ED0-93ED-B6BCCCB2912B}"/>
              </a:ext>
            </a:extLst>
          </p:cNvPr>
          <p:cNvSpPr>
            <a:spLocks noGrp="1"/>
          </p:cNvSpPr>
          <p:nvPr>
            <p:ph type="dt" sz="half" idx="10"/>
          </p:nvPr>
        </p:nvSpPr>
        <p:spPr/>
        <p:txBody>
          <a:bodyPr/>
          <a:lstStyle/>
          <a:p>
            <a:fld id="{558A6483-ED7A-4834-8DDF-D683B5271040}" type="datetime3">
              <a:rPr lang="en-US" smtClean="0"/>
              <a:t>22 April 2025</a:t>
            </a:fld>
            <a:endParaRPr lang="en-US" dirty="0"/>
          </a:p>
        </p:txBody>
      </p:sp>
      <p:sp>
        <p:nvSpPr>
          <p:cNvPr id="6" name="Slide Number Placeholder 5">
            <a:extLst>
              <a:ext uri="{FF2B5EF4-FFF2-40B4-BE49-F238E27FC236}">
                <a16:creationId xmlns:a16="http://schemas.microsoft.com/office/drawing/2014/main" id="{BDEBEDBC-8F67-4FF3-B903-352BC604FE11}"/>
              </a:ext>
            </a:extLst>
          </p:cNvPr>
          <p:cNvSpPr>
            <a:spLocks noGrp="1"/>
          </p:cNvSpPr>
          <p:nvPr>
            <p:ph type="sldNum" sz="quarter" idx="12"/>
          </p:nvPr>
        </p:nvSpPr>
        <p:spPr/>
        <p:txBody>
          <a:bodyPr/>
          <a:lstStyle/>
          <a:p>
            <a:fld id="{7B28076C-CE04-4A00-BFAA-A90EA8355859}" type="slidenum">
              <a:rPr lang="en-US" smtClean="0"/>
              <a:pPr/>
              <a:t>8</a:t>
            </a:fld>
            <a:endParaRPr lang="en-US"/>
          </a:p>
        </p:txBody>
      </p:sp>
    </p:spTree>
    <p:extLst>
      <p:ext uri="{BB962C8B-B14F-4D97-AF65-F5344CB8AC3E}">
        <p14:creationId xmlns:p14="http://schemas.microsoft.com/office/powerpoint/2010/main" val="3698243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781171F-278E-42A1-8BC0-46DEE6A9F47C}" type="datetime3">
              <a:rPr lang="en-US" smtClean="0"/>
              <a:t>22 April 2025</a:t>
            </a:fld>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pPr/>
              <a:t>9</a:t>
            </a:fld>
            <a:endParaRPr lang="en-US"/>
          </a:p>
        </p:txBody>
      </p:sp>
      <p:sp>
        <p:nvSpPr>
          <p:cNvPr id="7" name="Title 1"/>
          <p:cNvSpPr>
            <a:spLocks noGrp="1"/>
          </p:cNvSpPr>
          <p:nvPr>
            <p:ph type="title"/>
          </p:nvPr>
        </p:nvSpPr>
        <p:spPr>
          <a:xfrm>
            <a:off x="381000" y="381000"/>
            <a:ext cx="8229600" cy="685800"/>
          </a:xfrm>
        </p:spPr>
        <p:txBody>
          <a:bodyPr>
            <a:normAutofit/>
          </a:bodyPr>
          <a:lstStyle/>
          <a:p>
            <a:pPr algn="l"/>
            <a:r>
              <a:rPr lang="en-US" sz="3600" b="1" dirty="0">
                <a:solidFill>
                  <a:srgbClr val="C00000"/>
                </a:solidFill>
                <a:cs typeface="Arial" pitchFamily="34" charset="0"/>
              </a:rPr>
              <a:t>               RESULTS AND DISCUSSION</a:t>
            </a:r>
          </a:p>
        </p:txBody>
      </p:sp>
      <p:sp>
        <p:nvSpPr>
          <p:cNvPr id="8" name="Content Placeholder 2"/>
          <p:cNvSpPr>
            <a:spLocks noGrp="1"/>
          </p:cNvSpPr>
          <p:nvPr>
            <p:ph idx="1"/>
          </p:nvPr>
        </p:nvSpPr>
        <p:spPr>
          <a:xfrm>
            <a:off x="457200" y="1562100"/>
            <a:ext cx="8305800" cy="3733800"/>
          </a:xfrm>
        </p:spPr>
        <p:txBody>
          <a:bodyPr>
            <a:normAutofit fontScale="92500" lnSpcReduction="10000"/>
          </a:bodyPr>
          <a:lstStyle/>
          <a:p>
            <a:pPr algn="just">
              <a:lnSpc>
                <a:spcPct val="170000"/>
              </a:lnSpc>
            </a:pPr>
            <a:r>
              <a:rPr lang="en-US" sz="2600" dirty="0"/>
              <a:t>Confusion matrix and it’s related metrics given a good score, by this we can conclude that our model performed well.</a:t>
            </a:r>
          </a:p>
          <a:p>
            <a:pPr algn="just">
              <a:lnSpc>
                <a:spcPct val="170000"/>
              </a:lnSpc>
            </a:pPr>
            <a:r>
              <a:rPr lang="en-US" sz="2600" dirty="0"/>
              <a:t>This model is pretty good because by implementing all the steps above mentioned we got an accuracy equal to 99%.Therefore,it is a good model and our predictions will be effective .</a:t>
            </a:r>
          </a:p>
          <a:p>
            <a:pPr marL="0" indent="0" algn="just">
              <a:buNone/>
            </a:pPr>
            <a:endParaRPr lang="en-US" dirty="0"/>
          </a:p>
        </p:txBody>
      </p:sp>
    </p:spTree>
    <p:extLst>
      <p:ext uri="{BB962C8B-B14F-4D97-AF65-F5344CB8AC3E}">
        <p14:creationId xmlns:p14="http://schemas.microsoft.com/office/powerpoint/2010/main" val="225862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9FDB275-AA56-4323-9F15-4DC35AD9BA26}"/>
              </a:ext>
            </a:extLst>
          </p:cNvPr>
          <p:cNvSpPr>
            <a:spLocks noGrp="1"/>
          </p:cNvSpPr>
          <p:nvPr>
            <p:ph type="dt" sz="half" idx="10"/>
          </p:nvPr>
        </p:nvSpPr>
        <p:spPr/>
        <p:txBody>
          <a:bodyPr/>
          <a:lstStyle/>
          <a:p>
            <a:fld id="{8060ED3C-21DD-40A0-A3F8-102B292B93B8}" type="datetime3">
              <a:rPr lang="en-US" smtClean="0"/>
              <a:t>22 April 2025</a:t>
            </a:fld>
            <a:endParaRPr lang="en-US"/>
          </a:p>
        </p:txBody>
      </p:sp>
      <p:sp>
        <p:nvSpPr>
          <p:cNvPr id="6" name="Slide Number Placeholder 5">
            <a:extLst>
              <a:ext uri="{FF2B5EF4-FFF2-40B4-BE49-F238E27FC236}">
                <a16:creationId xmlns:a16="http://schemas.microsoft.com/office/drawing/2014/main" id="{0A3526F5-95FF-4362-BD46-4B37F490899B}"/>
              </a:ext>
            </a:extLst>
          </p:cNvPr>
          <p:cNvSpPr>
            <a:spLocks noGrp="1"/>
          </p:cNvSpPr>
          <p:nvPr>
            <p:ph type="sldNum" sz="quarter" idx="12"/>
          </p:nvPr>
        </p:nvSpPr>
        <p:spPr/>
        <p:txBody>
          <a:bodyPr/>
          <a:lstStyle/>
          <a:p>
            <a:fld id="{7B28076C-CE04-4A00-BFAA-A90EA8355859}" type="slidenum">
              <a:rPr lang="en-US" smtClean="0"/>
              <a:pPr/>
              <a:t>10</a:t>
            </a:fld>
            <a:endParaRPr lang="en-US"/>
          </a:p>
        </p:txBody>
      </p:sp>
      <p:sp>
        <p:nvSpPr>
          <p:cNvPr id="9" name="Title 1">
            <a:extLst>
              <a:ext uri="{FF2B5EF4-FFF2-40B4-BE49-F238E27FC236}">
                <a16:creationId xmlns:a16="http://schemas.microsoft.com/office/drawing/2014/main" id="{E8F9E99E-9C41-4A6B-85F9-713434E17B97}"/>
              </a:ext>
            </a:extLst>
          </p:cNvPr>
          <p:cNvSpPr>
            <a:spLocks noGrp="1"/>
          </p:cNvSpPr>
          <p:nvPr>
            <p:ph type="title"/>
          </p:nvPr>
        </p:nvSpPr>
        <p:spPr>
          <a:xfrm>
            <a:off x="381000" y="381000"/>
            <a:ext cx="8229600" cy="685800"/>
          </a:xfrm>
        </p:spPr>
        <p:txBody>
          <a:bodyPr>
            <a:normAutofit/>
          </a:bodyPr>
          <a:lstStyle/>
          <a:p>
            <a:pPr algn="l"/>
            <a:r>
              <a:rPr lang="en-US" sz="3600" b="1" dirty="0">
                <a:solidFill>
                  <a:srgbClr val="C00000"/>
                </a:solidFill>
                <a:cs typeface="Arial" pitchFamily="34" charset="0"/>
              </a:rPr>
              <a:t>               RESULTS AND DISCUSSION</a:t>
            </a:r>
          </a:p>
        </p:txBody>
      </p:sp>
      <p:pic>
        <p:nvPicPr>
          <p:cNvPr id="11" name="Image 12">
            <a:extLst>
              <a:ext uri="{FF2B5EF4-FFF2-40B4-BE49-F238E27FC236}">
                <a16:creationId xmlns:a16="http://schemas.microsoft.com/office/drawing/2014/main" id="{2851512D-1155-4CFD-896A-7625EAEA29D2}"/>
              </a:ext>
            </a:extLst>
          </p:cNvPr>
          <p:cNvPicPr>
            <a:picLocks noGrp="1"/>
          </p:cNvPicPr>
          <p:nvPr>
            <p:ph idx="1"/>
          </p:nvPr>
        </p:nvPicPr>
        <p:blipFill>
          <a:blip r:embed="rId2" cstate="print"/>
          <a:stretch>
            <a:fillRect/>
          </a:stretch>
        </p:blipFill>
        <p:spPr>
          <a:xfrm>
            <a:off x="457200" y="2374781"/>
            <a:ext cx="8229600" cy="2976800"/>
          </a:xfrm>
          <a:prstGeom prst="rect">
            <a:avLst/>
          </a:prstGeom>
        </p:spPr>
      </p:pic>
    </p:spTree>
    <p:extLst>
      <p:ext uri="{BB962C8B-B14F-4D97-AF65-F5344CB8AC3E}">
        <p14:creationId xmlns:p14="http://schemas.microsoft.com/office/powerpoint/2010/main" val="2361387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9FDB275-AA56-4323-9F15-4DC35AD9BA26}"/>
              </a:ext>
            </a:extLst>
          </p:cNvPr>
          <p:cNvSpPr>
            <a:spLocks noGrp="1"/>
          </p:cNvSpPr>
          <p:nvPr>
            <p:ph type="dt" sz="half" idx="10"/>
          </p:nvPr>
        </p:nvSpPr>
        <p:spPr/>
        <p:txBody>
          <a:bodyPr/>
          <a:lstStyle/>
          <a:p>
            <a:fld id="{ED279275-0235-4574-A0DC-600B73018449}" type="datetime3">
              <a:rPr lang="en-US" smtClean="0"/>
              <a:t>22 April 2025</a:t>
            </a:fld>
            <a:endParaRPr lang="en-US"/>
          </a:p>
        </p:txBody>
      </p:sp>
      <p:sp>
        <p:nvSpPr>
          <p:cNvPr id="6" name="Slide Number Placeholder 5">
            <a:extLst>
              <a:ext uri="{FF2B5EF4-FFF2-40B4-BE49-F238E27FC236}">
                <a16:creationId xmlns:a16="http://schemas.microsoft.com/office/drawing/2014/main" id="{0A3526F5-95FF-4362-BD46-4B37F490899B}"/>
              </a:ext>
            </a:extLst>
          </p:cNvPr>
          <p:cNvSpPr>
            <a:spLocks noGrp="1"/>
          </p:cNvSpPr>
          <p:nvPr>
            <p:ph type="sldNum" sz="quarter" idx="12"/>
          </p:nvPr>
        </p:nvSpPr>
        <p:spPr/>
        <p:txBody>
          <a:bodyPr/>
          <a:lstStyle/>
          <a:p>
            <a:fld id="{7B28076C-CE04-4A00-BFAA-A90EA8355859}" type="slidenum">
              <a:rPr lang="en-US" smtClean="0"/>
              <a:pPr/>
              <a:t>11</a:t>
            </a:fld>
            <a:endParaRPr lang="en-US"/>
          </a:p>
        </p:txBody>
      </p:sp>
      <p:sp>
        <p:nvSpPr>
          <p:cNvPr id="9" name="Title 1">
            <a:extLst>
              <a:ext uri="{FF2B5EF4-FFF2-40B4-BE49-F238E27FC236}">
                <a16:creationId xmlns:a16="http://schemas.microsoft.com/office/drawing/2014/main" id="{E41E12CF-CA42-41E0-9410-74080DD3BF64}"/>
              </a:ext>
            </a:extLst>
          </p:cNvPr>
          <p:cNvSpPr>
            <a:spLocks noGrp="1"/>
          </p:cNvSpPr>
          <p:nvPr>
            <p:ph type="title"/>
          </p:nvPr>
        </p:nvSpPr>
        <p:spPr>
          <a:xfrm>
            <a:off x="381000" y="381000"/>
            <a:ext cx="8229600" cy="685800"/>
          </a:xfrm>
        </p:spPr>
        <p:txBody>
          <a:bodyPr>
            <a:normAutofit/>
          </a:bodyPr>
          <a:lstStyle/>
          <a:p>
            <a:pPr algn="l"/>
            <a:r>
              <a:rPr lang="en-US" sz="3600" b="1" dirty="0">
                <a:solidFill>
                  <a:srgbClr val="C00000"/>
                </a:solidFill>
                <a:cs typeface="Arial" pitchFamily="34" charset="0"/>
              </a:rPr>
              <a:t>               RESULTS AND DISCUSSION</a:t>
            </a:r>
          </a:p>
        </p:txBody>
      </p:sp>
      <p:pic>
        <p:nvPicPr>
          <p:cNvPr id="7" name="Content Placeholder 6">
            <a:extLst>
              <a:ext uri="{FF2B5EF4-FFF2-40B4-BE49-F238E27FC236}">
                <a16:creationId xmlns:a16="http://schemas.microsoft.com/office/drawing/2014/main" id="{34E16FD3-F7C1-F08C-6163-418948EB0877}"/>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2554456"/>
            <a:ext cx="8229600" cy="2617450"/>
          </a:xfrm>
          <a:prstGeom prst="rect">
            <a:avLst/>
          </a:prstGeom>
          <a:noFill/>
          <a:ln>
            <a:noFill/>
          </a:ln>
        </p:spPr>
      </p:pic>
    </p:spTree>
    <p:extLst>
      <p:ext uri="{BB962C8B-B14F-4D97-AF65-F5344CB8AC3E}">
        <p14:creationId xmlns:p14="http://schemas.microsoft.com/office/powerpoint/2010/main" val="3288510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C136785-5074-4F06-AC84-D7530EB7515F}" type="datetime3">
              <a:rPr lang="en-US" smtClean="0"/>
              <a:t>22 April 2025</a:t>
            </a:fld>
            <a:endParaRPr lang="en-US"/>
          </a:p>
        </p:txBody>
      </p:sp>
      <p:sp>
        <p:nvSpPr>
          <p:cNvPr id="6" name="Slide Number Placeholder 5"/>
          <p:cNvSpPr>
            <a:spLocks noGrp="1"/>
          </p:cNvSpPr>
          <p:nvPr>
            <p:ph type="sldNum" sz="quarter" idx="12"/>
          </p:nvPr>
        </p:nvSpPr>
        <p:spPr/>
        <p:txBody>
          <a:bodyPr/>
          <a:lstStyle/>
          <a:p>
            <a:fld id="{7B28076C-CE04-4A00-BFAA-A90EA8355859}" type="slidenum">
              <a:rPr lang="en-US" smtClean="0"/>
              <a:pPr/>
              <a:t>12</a:t>
            </a:fld>
            <a:endParaRPr lang="en-US"/>
          </a:p>
        </p:txBody>
      </p:sp>
      <p:sp>
        <p:nvSpPr>
          <p:cNvPr id="7" name="Title 1"/>
          <p:cNvSpPr>
            <a:spLocks noGrp="1"/>
          </p:cNvSpPr>
          <p:nvPr>
            <p:ph type="title"/>
          </p:nvPr>
        </p:nvSpPr>
        <p:spPr>
          <a:xfrm>
            <a:off x="533400" y="381000"/>
            <a:ext cx="8229600" cy="685800"/>
          </a:xfrm>
        </p:spPr>
        <p:txBody>
          <a:bodyPr>
            <a:normAutofit fontScale="90000"/>
          </a:bodyPr>
          <a:lstStyle/>
          <a:p>
            <a:pPr algn="l"/>
            <a:br>
              <a:rPr lang="en-US" dirty="0">
                <a:latin typeface="Arial" pitchFamily="34" charset="0"/>
                <a:cs typeface="Arial" pitchFamily="34" charset="0"/>
              </a:rPr>
            </a:br>
            <a:r>
              <a:rPr lang="en-US" dirty="0">
                <a:latin typeface="Arial" pitchFamily="34" charset="0"/>
                <a:cs typeface="Arial" pitchFamily="34" charset="0"/>
              </a:rPr>
              <a:t>       </a:t>
            </a:r>
            <a:r>
              <a:rPr lang="en-US" sz="4000" b="1" dirty="0">
                <a:solidFill>
                  <a:srgbClr val="C00000"/>
                </a:solidFill>
                <a:cs typeface="Arial" pitchFamily="34" charset="0"/>
              </a:rPr>
              <a:t>CONCLUSION &amp; FUTURE WORK</a:t>
            </a:r>
            <a:br>
              <a:rPr lang="en-US" dirty="0">
                <a:latin typeface="Arial" pitchFamily="34" charset="0"/>
                <a:cs typeface="Arial" pitchFamily="34" charset="0"/>
              </a:rPr>
            </a:br>
            <a:endParaRPr lang="en-US" dirty="0">
              <a:latin typeface="Arial" pitchFamily="34" charset="0"/>
              <a:cs typeface="Arial" pitchFamily="34" charset="0"/>
            </a:endParaRPr>
          </a:p>
        </p:txBody>
      </p:sp>
      <p:sp>
        <p:nvSpPr>
          <p:cNvPr id="8" name="Content Placeholder 2"/>
          <p:cNvSpPr>
            <a:spLocks noGrp="1"/>
          </p:cNvSpPr>
          <p:nvPr>
            <p:ph idx="1"/>
          </p:nvPr>
        </p:nvSpPr>
        <p:spPr>
          <a:xfrm>
            <a:off x="457200" y="1371600"/>
            <a:ext cx="8229600" cy="4495800"/>
          </a:xfrm>
        </p:spPr>
        <p:txBody>
          <a:bodyPr>
            <a:noAutofit/>
          </a:bodyPr>
          <a:lstStyle/>
          <a:p>
            <a:pPr marL="14605" marR="12065" algn="just">
              <a:lnSpc>
                <a:spcPct val="150000"/>
              </a:lnSpc>
              <a:spcBef>
                <a:spcPts val="1405"/>
              </a:spcBef>
              <a:buNone/>
            </a:pPr>
            <a:r>
              <a:rPr lang="en-US" sz="1800" dirty="0">
                <a:effectLst/>
                <a:latin typeface="Times New Roman" panose="02020603050405020304" pitchFamily="18" charset="0"/>
                <a:ea typeface="Times New Roman" panose="02020603050405020304" pitchFamily="18" charset="0"/>
              </a:rPr>
              <a:t>The</a:t>
            </a:r>
            <a:r>
              <a:rPr lang="en-US" sz="1800" spc="-4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Research</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Paper</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AI</a:t>
            </a:r>
            <a:r>
              <a:rPr lang="en-US" sz="1800" spc="-5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powered</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resume</a:t>
            </a:r>
            <a:r>
              <a:rPr lang="en-US" sz="1800" spc="-4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analyzer</a:t>
            </a:r>
            <a:r>
              <a:rPr lang="en-US" sz="1800" spc="-3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project</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set</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out</a:t>
            </a:r>
            <a:r>
              <a:rPr lang="en-US" sz="1800" spc="-3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with</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a:t>
            </a:r>
            <a:r>
              <a:rPr lang="en-US" sz="1800" spc="-4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focused</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and</a:t>
            </a:r>
            <a:r>
              <a:rPr lang="en-US" sz="1800" spc="-4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innovative objective: to develop an AI-powered tool that could analyze academic research papers and deliver comprehensive critiques, including section-wise summaries, identification of research gaps, and constructive suggestions for improvement. Leveraging the capabilities of Large Language Models (LLMs) and natural language processing (NLP), the system was designed, implemented, and successfully deployed as a web-based application on the Hugging Face Spaces</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platform.</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Through</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this</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project,</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the</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integration</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of</a:t>
            </a:r>
            <a:r>
              <a:rPr lang="en-US" sz="1800" spc="-25"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intelligent</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automation</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with</a:t>
            </a:r>
            <a:r>
              <a:rPr lang="en-US" sz="1800" spc="-20" dirty="0">
                <a:effectLst/>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academic analysis was explored and proven to be both technically feasible and practically impactful. </a:t>
            </a:r>
            <a:endParaRPr lang="en-IN" sz="1800" dirty="0">
              <a:effectLst/>
              <a:latin typeface="Times New Roman" panose="02020603050405020304" pitchFamily="18" charset="0"/>
              <a:ea typeface="Times New Roman" panose="02020603050405020304" pitchFamily="18" charset="0"/>
            </a:endParaRPr>
          </a:p>
          <a:p>
            <a:pPr algn="just">
              <a:lnSpc>
                <a:spcPct val="150000"/>
              </a:lnSpc>
            </a:pPr>
            <a:endParaRPr lang="en-US" sz="2000" dirty="0"/>
          </a:p>
        </p:txBody>
      </p:sp>
    </p:spTree>
    <p:extLst>
      <p:ext uri="{BB962C8B-B14F-4D97-AF65-F5344CB8AC3E}">
        <p14:creationId xmlns:p14="http://schemas.microsoft.com/office/powerpoint/2010/main" val="5428458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6D66E7F-DEC1-45A0-8E19-12F87E4C15B4}"/>
              </a:ext>
            </a:extLst>
          </p:cNvPr>
          <p:cNvSpPr>
            <a:spLocks noGrp="1"/>
          </p:cNvSpPr>
          <p:nvPr>
            <p:ph type="title"/>
          </p:nvPr>
        </p:nvSpPr>
        <p:spPr/>
        <p:txBody>
          <a:bodyPr>
            <a:normAutofit/>
          </a:bodyPr>
          <a:lstStyle/>
          <a:p>
            <a:r>
              <a:rPr lang="en-US" sz="3600" b="1" dirty="0">
                <a:solidFill>
                  <a:srgbClr val="C00000"/>
                </a:solidFill>
                <a:cs typeface="Arial" pitchFamily="34" charset="0"/>
              </a:rPr>
              <a:t>REFERENCES</a:t>
            </a:r>
            <a:endParaRPr lang="en-IN" sz="3600" dirty="0"/>
          </a:p>
        </p:txBody>
      </p:sp>
      <p:sp>
        <p:nvSpPr>
          <p:cNvPr id="9" name="Content Placeholder 8">
            <a:extLst>
              <a:ext uri="{FF2B5EF4-FFF2-40B4-BE49-F238E27FC236}">
                <a16:creationId xmlns:a16="http://schemas.microsoft.com/office/drawing/2014/main" id="{248B1995-2397-40B6-8D46-85CDDE3A2ED0}"/>
              </a:ext>
            </a:extLst>
          </p:cNvPr>
          <p:cNvSpPr>
            <a:spLocks noGrp="1"/>
          </p:cNvSpPr>
          <p:nvPr>
            <p:ph sz="half" idx="2"/>
          </p:nvPr>
        </p:nvSpPr>
        <p:spPr>
          <a:xfrm>
            <a:off x="647700" y="1295400"/>
            <a:ext cx="8229600" cy="3810000"/>
          </a:xfrm>
        </p:spPr>
        <p:txBody>
          <a:bodyPr>
            <a:noAutofit/>
          </a:bodyPr>
          <a:lstStyle/>
          <a:p>
            <a:pPr marL="0" indent="0">
              <a:buNone/>
            </a:pPr>
            <a:r>
              <a:rPr lang="en-IN" sz="1800" dirty="0"/>
              <a:t>1]. Vaswani, A., </a:t>
            </a:r>
            <a:r>
              <a:rPr lang="en-IN" sz="1800" dirty="0" err="1"/>
              <a:t>Shazeer</a:t>
            </a:r>
            <a:r>
              <a:rPr lang="en-IN" sz="1800" dirty="0"/>
              <a:t>, N., Parmar, N., </a:t>
            </a:r>
            <a:r>
              <a:rPr lang="en-IN" sz="1800" dirty="0" err="1"/>
              <a:t>Uszkoreit</a:t>
            </a:r>
            <a:r>
              <a:rPr lang="en-IN" sz="1800" dirty="0"/>
              <a:t>, J., Jones, L., Gomez, A. N., ... &amp; </a:t>
            </a:r>
            <a:r>
              <a:rPr lang="en-IN" sz="1800" dirty="0" err="1"/>
              <a:t>Polosukhin</a:t>
            </a:r>
            <a:r>
              <a:rPr lang="en-IN" sz="1800" dirty="0"/>
              <a:t>, I. (2017)</a:t>
            </a:r>
          </a:p>
          <a:p>
            <a:pPr marL="0" indent="0">
              <a:buNone/>
            </a:pPr>
            <a:endParaRPr lang="en-IN" sz="1800" dirty="0"/>
          </a:p>
          <a:p>
            <a:pPr marL="0" indent="0">
              <a:buNone/>
            </a:pPr>
            <a:r>
              <a:rPr lang="en-IN" sz="1800" dirty="0"/>
              <a:t>[2]. </a:t>
            </a:r>
            <a:r>
              <a:rPr lang="en-IN" sz="1800" dirty="0" err="1"/>
              <a:t>Nenkova</a:t>
            </a:r>
            <a:r>
              <a:rPr lang="en-IN" sz="1800" dirty="0"/>
              <a:t>, A., &amp; McKeown, K. (2012). A survey of text summarization techniques. In</a:t>
            </a:r>
          </a:p>
          <a:p>
            <a:pPr marL="0" indent="0">
              <a:buNone/>
            </a:pPr>
            <a:r>
              <a:rPr lang="en-IN" sz="1800" dirty="0"/>
              <a:t>Mining Text Data (pp. 43–76). Springer.</a:t>
            </a:r>
          </a:p>
          <a:p>
            <a:pPr marL="0" indent="0">
              <a:buNone/>
            </a:pPr>
            <a:endParaRPr lang="en-IN" sz="1800" dirty="0"/>
          </a:p>
          <a:p>
            <a:pPr marL="0" indent="0">
              <a:buNone/>
            </a:pPr>
            <a:r>
              <a:rPr lang="en-IN" sz="1800" dirty="0"/>
              <a:t>[3]. </a:t>
            </a:r>
            <a:r>
              <a:rPr lang="en-IN" sz="1800" dirty="0" err="1"/>
              <a:t>Nenkova</a:t>
            </a:r>
            <a:r>
              <a:rPr lang="en-IN" sz="1800" dirty="0"/>
              <a:t>, A., &amp; McKeown, K. (2012). A survey of text summarization techniques. In</a:t>
            </a:r>
          </a:p>
          <a:p>
            <a:pPr marL="0" indent="0">
              <a:buNone/>
            </a:pPr>
            <a:r>
              <a:rPr lang="en-IN" sz="1800" dirty="0"/>
              <a:t>Mining Text Data (pp. 43–76). Springer.</a:t>
            </a:r>
          </a:p>
          <a:p>
            <a:pPr marL="0" indent="0">
              <a:buNone/>
            </a:pPr>
            <a:endParaRPr lang="en-IN" sz="1800" dirty="0"/>
          </a:p>
          <a:p>
            <a:pPr marL="0" indent="0">
              <a:buNone/>
            </a:pPr>
            <a:r>
              <a:rPr lang="en-IN" sz="1800" dirty="0"/>
              <a:t>[4]. </a:t>
            </a:r>
            <a:r>
              <a:rPr lang="en-IN" sz="1800" dirty="0" err="1"/>
              <a:t>Jurafsky</a:t>
            </a:r>
            <a:r>
              <a:rPr lang="en-IN" sz="1800" dirty="0"/>
              <a:t>, D., &amp; Martin, J. H. (2021). Speech and Language Processing (3rd ed. draft). Stanford University.</a:t>
            </a:r>
          </a:p>
          <a:p>
            <a:pPr marL="0" indent="0">
              <a:buNone/>
            </a:pPr>
            <a:endParaRPr lang="en-IN" sz="1800" dirty="0"/>
          </a:p>
          <a:p>
            <a:pPr marL="0" indent="0">
              <a:buNone/>
            </a:pPr>
            <a:r>
              <a:rPr lang="en-IN" sz="1800" dirty="0"/>
              <a:t>[5]. Radford, A., Narasimhan, K., </a:t>
            </a:r>
            <a:r>
              <a:rPr lang="en-IN" sz="1800" dirty="0" err="1"/>
              <a:t>Salimans</a:t>
            </a:r>
            <a:r>
              <a:rPr lang="en-IN" sz="1800" dirty="0"/>
              <a:t>, T., &amp; </a:t>
            </a:r>
            <a:r>
              <a:rPr lang="en-IN" sz="1800" dirty="0" err="1"/>
              <a:t>Sutskever</a:t>
            </a:r>
            <a:r>
              <a:rPr lang="en-IN" sz="1800" dirty="0"/>
              <a:t>, I. (2018). Improving Language Understanding by Generative Pre-training.</a:t>
            </a:r>
          </a:p>
        </p:txBody>
      </p:sp>
      <p:sp>
        <p:nvSpPr>
          <p:cNvPr id="4" name="Date Placeholder 3">
            <a:extLst>
              <a:ext uri="{FF2B5EF4-FFF2-40B4-BE49-F238E27FC236}">
                <a16:creationId xmlns:a16="http://schemas.microsoft.com/office/drawing/2014/main" id="{9ACD1CBF-2A96-43DD-8DC9-9DB6822FA6AC}"/>
              </a:ext>
            </a:extLst>
          </p:cNvPr>
          <p:cNvSpPr>
            <a:spLocks noGrp="1"/>
          </p:cNvSpPr>
          <p:nvPr>
            <p:ph type="dt" sz="half" idx="10"/>
          </p:nvPr>
        </p:nvSpPr>
        <p:spPr/>
        <p:txBody>
          <a:bodyPr/>
          <a:lstStyle/>
          <a:p>
            <a:fld id="{5DC38B2A-6F00-4CBD-8345-E888AE8B1767}" type="datetime3">
              <a:rPr lang="en-US" smtClean="0"/>
              <a:t>22 April 2025</a:t>
            </a:fld>
            <a:endParaRPr lang="en-US"/>
          </a:p>
        </p:txBody>
      </p:sp>
      <p:sp>
        <p:nvSpPr>
          <p:cNvPr id="6" name="Slide Number Placeholder 5">
            <a:extLst>
              <a:ext uri="{FF2B5EF4-FFF2-40B4-BE49-F238E27FC236}">
                <a16:creationId xmlns:a16="http://schemas.microsoft.com/office/drawing/2014/main" id="{45327FD1-9FC2-420E-9264-EA7A9A063EDF}"/>
              </a:ext>
            </a:extLst>
          </p:cNvPr>
          <p:cNvSpPr>
            <a:spLocks noGrp="1"/>
          </p:cNvSpPr>
          <p:nvPr>
            <p:ph type="sldNum" sz="quarter" idx="12"/>
          </p:nvPr>
        </p:nvSpPr>
        <p:spPr/>
        <p:txBody>
          <a:bodyPr/>
          <a:lstStyle/>
          <a:p>
            <a:fld id="{7B28076C-CE04-4A00-BFAA-A90EA8355859}" type="slidenum">
              <a:rPr lang="en-US" smtClean="0"/>
              <a:pPr/>
              <a:t>13</a:t>
            </a:fld>
            <a:endParaRPr lang="en-US"/>
          </a:p>
        </p:txBody>
      </p:sp>
    </p:spTree>
    <p:extLst>
      <p:ext uri="{BB962C8B-B14F-4D97-AF65-F5344CB8AC3E}">
        <p14:creationId xmlns:p14="http://schemas.microsoft.com/office/powerpoint/2010/main" val="137980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D7E30F7-CE19-4B37-83CB-B7735D9446CA}"/>
              </a:ext>
            </a:extLst>
          </p:cNvPr>
          <p:cNvSpPr>
            <a:spLocks noGrp="1"/>
          </p:cNvSpPr>
          <p:nvPr>
            <p:ph type="dt" sz="half" idx="10"/>
          </p:nvPr>
        </p:nvSpPr>
        <p:spPr/>
        <p:txBody>
          <a:bodyPr/>
          <a:lstStyle/>
          <a:p>
            <a:fld id="{4C156812-1DB2-4383-94D4-CD738402F20F}" type="datetime3">
              <a:rPr lang="en-US" smtClean="0"/>
              <a:t>22 April 2025</a:t>
            </a:fld>
            <a:endParaRPr lang="en-US"/>
          </a:p>
        </p:txBody>
      </p:sp>
      <p:sp>
        <p:nvSpPr>
          <p:cNvPr id="7" name="Slide Number Placeholder 6">
            <a:extLst>
              <a:ext uri="{FF2B5EF4-FFF2-40B4-BE49-F238E27FC236}">
                <a16:creationId xmlns:a16="http://schemas.microsoft.com/office/drawing/2014/main" id="{89E81BC7-D526-441E-9955-3396619EE668}"/>
              </a:ext>
            </a:extLst>
          </p:cNvPr>
          <p:cNvSpPr>
            <a:spLocks noGrp="1"/>
          </p:cNvSpPr>
          <p:nvPr>
            <p:ph type="sldNum" sz="quarter" idx="12"/>
          </p:nvPr>
        </p:nvSpPr>
        <p:spPr/>
        <p:txBody>
          <a:bodyPr/>
          <a:lstStyle/>
          <a:p>
            <a:fld id="{7B28076C-CE04-4A00-BFAA-A90EA8355859}" type="slidenum">
              <a:rPr lang="en-US" smtClean="0"/>
              <a:pPr/>
              <a:t>14</a:t>
            </a:fld>
            <a:endParaRPr lang="en-US"/>
          </a:p>
        </p:txBody>
      </p:sp>
      <p:sp>
        <p:nvSpPr>
          <p:cNvPr id="9" name="TextBox 8">
            <a:extLst>
              <a:ext uri="{FF2B5EF4-FFF2-40B4-BE49-F238E27FC236}">
                <a16:creationId xmlns:a16="http://schemas.microsoft.com/office/drawing/2014/main" id="{263D7370-7085-4FB8-8DCE-ED8FA641FC1E}"/>
              </a:ext>
            </a:extLst>
          </p:cNvPr>
          <p:cNvSpPr txBox="1"/>
          <p:nvPr/>
        </p:nvSpPr>
        <p:spPr>
          <a:xfrm>
            <a:off x="215452" y="381000"/>
            <a:ext cx="7924800" cy="954107"/>
          </a:xfrm>
          <a:prstGeom prst="rect">
            <a:avLst/>
          </a:prstGeom>
          <a:noFill/>
        </p:spPr>
        <p:txBody>
          <a:bodyPr wrap="square">
            <a:spAutoFit/>
          </a:bodyPr>
          <a:lstStyle/>
          <a:p>
            <a:pPr algn="ctr"/>
            <a:r>
              <a:rPr lang="en-US" sz="2800" b="1" dirty="0">
                <a:solidFill>
                  <a:srgbClr val="7030A0"/>
                </a:solidFill>
              </a:rPr>
              <a:t>AI POWERED RESUME ANALYZER</a:t>
            </a:r>
            <a:endParaRPr lang="en-IN" sz="2800" dirty="0"/>
          </a:p>
          <a:p>
            <a:pPr algn="ctr"/>
            <a:r>
              <a:rPr lang="en-IN" sz="2800" b="1" dirty="0">
                <a:solidFill>
                  <a:schemeClr val="accent2">
                    <a:lumMod val="75000"/>
                  </a:schemeClr>
                </a:solidFill>
                <a:latin typeface="Arial" panose="020B0604020202020204" pitchFamily="34" charset="0"/>
                <a:cs typeface="Arial" panose="020B0604020202020204" pitchFamily="34" charset="0"/>
              </a:rPr>
              <a:t> </a:t>
            </a:r>
            <a:endParaRPr lang="en-US" sz="2800" b="1" dirty="0">
              <a:solidFill>
                <a:schemeClr val="accent2">
                  <a:lumMod val="75000"/>
                </a:schemeClr>
              </a:solidFill>
              <a:latin typeface="Arial" panose="020B0604020202020204" pitchFamily="34" charset="0"/>
              <a:cs typeface="Arial" panose="020B0604020202020204" pitchFamily="34" charset="0"/>
            </a:endParaRPr>
          </a:p>
        </p:txBody>
      </p:sp>
      <p:pic>
        <p:nvPicPr>
          <p:cNvPr id="1026" name="Picture 2" descr="Q&amp;amp;A with Evan Lamolinara: Selling in a Time of Crisis">
            <a:extLst>
              <a:ext uri="{FF2B5EF4-FFF2-40B4-BE49-F238E27FC236}">
                <a16:creationId xmlns:a16="http://schemas.microsoft.com/office/drawing/2014/main" id="{7B822DF8-10EE-4838-8546-F5EAD6DB74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87494" y="3200400"/>
            <a:ext cx="4331493" cy="2314575"/>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F482EB4D-88EA-D47D-263F-9EA8F37319D6}"/>
              </a:ext>
            </a:extLst>
          </p:cNvPr>
          <p:cNvSpPr>
            <a:spLocks noGrp="1"/>
          </p:cNvSpPr>
          <p:nvPr>
            <p:ph type="ftr" sz="quarter" idx="4294967295"/>
          </p:nvPr>
        </p:nvSpPr>
        <p:spPr>
          <a:xfrm>
            <a:off x="2857500" y="6469690"/>
            <a:ext cx="3429000" cy="365125"/>
          </a:xfrm>
        </p:spPr>
        <p:txBody>
          <a:bodyPr/>
          <a:lstStyle/>
          <a:p>
            <a:r>
              <a:rPr lang="en-US"/>
              <a:t>Department of CSE with AI</a:t>
            </a:r>
            <a:endParaRPr lang="en-US" b="1" dirty="0"/>
          </a:p>
        </p:txBody>
      </p:sp>
    </p:spTree>
    <p:extLst>
      <p:ext uri="{BB962C8B-B14F-4D97-AF65-F5344CB8AC3E}">
        <p14:creationId xmlns:p14="http://schemas.microsoft.com/office/powerpoint/2010/main" val="35385502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0247DE25-20B9-4305-B47C-480F46A3636B}"/>
              </a:ext>
            </a:extLst>
          </p:cNvPr>
          <p:cNvSpPr>
            <a:spLocks noGrp="1"/>
          </p:cNvSpPr>
          <p:nvPr>
            <p:ph type="title"/>
          </p:nvPr>
        </p:nvSpPr>
        <p:spPr>
          <a:xfrm>
            <a:off x="264502" y="596484"/>
            <a:ext cx="8763000" cy="822357"/>
          </a:xfrm>
        </p:spPr>
        <p:txBody>
          <a:bodyPr>
            <a:normAutofit fontScale="90000"/>
          </a:bodyPr>
          <a:lstStyle/>
          <a:p>
            <a:br>
              <a:rPr lang="en-US" sz="2800" b="1" dirty="0">
                <a:solidFill>
                  <a:srgbClr val="7030A0"/>
                </a:solidFill>
              </a:rPr>
            </a:br>
            <a:r>
              <a:rPr lang="en-US" sz="2900" b="1" dirty="0">
                <a:solidFill>
                  <a:srgbClr val="7030A0"/>
                </a:solidFill>
              </a:rPr>
              <a:t>AI POWERED RESUME ANALYZER</a:t>
            </a:r>
            <a:br>
              <a:rPr lang="en-IN" sz="2900" dirty="0"/>
            </a:br>
            <a:r>
              <a:rPr lang="en-IN" sz="2900" b="1" dirty="0">
                <a:solidFill>
                  <a:schemeClr val="accent2">
                    <a:lumMod val="75000"/>
                  </a:schemeClr>
                </a:solidFill>
                <a:latin typeface="Arial" panose="020B0604020202020204" pitchFamily="34" charset="0"/>
                <a:cs typeface="Arial" panose="020B0604020202020204" pitchFamily="34" charset="0"/>
              </a:rPr>
              <a:t> </a:t>
            </a:r>
            <a:br>
              <a:rPr lang="en-US" sz="4400" b="1" dirty="0">
                <a:solidFill>
                  <a:schemeClr val="accent2">
                    <a:lumMod val="75000"/>
                  </a:schemeClr>
                </a:solidFill>
                <a:latin typeface="Arial" panose="020B0604020202020204" pitchFamily="34" charset="0"/>
                <a:cs typeface="Arial" panose="020B0604020202020204" pitchFamily="34" charset="0"/>
              </a:rPr>
            </a:br>
            <a:endParaRPr lang="en-IN" dirty="0"/>
          </a:p>
        </p:txBody>
      </p:sp>
      <p:sp>
        <p:nvSpPr>
          <p:cNvPr id="5" name="Date Placeholder 4">
            <a:extLst>
              <a:ext uri="{FF2B5EF4-FFF2-40B4-BE49-F238E27FC236}">
                <a16:creationId xmlns:a16="http://schemas.microsoft.com/office/drawing/2014/main" id="{00AA22C1-60C2-4D5B-A610-694C147D4E9D}"/>
              </a:ext>
            </a:extLst>
          </p:cNvPr>
          <p:cNvSpPr>
            <a:spLocks noGrp="1"/>
          </p:cNvSpPr>
          <p:nvPr>
            <p:ph type="dt" sz="half" idx="10"/>
          </p:nvPr>
        </p:nvSpPr>
        <p:spPr/>
        <p:txBody>
          <a:bodyPr/>
          <a:lstStyle/>
          <a:p>
            <a:fld id="{E7B9FD46-F18D-46B3-9848-0A6094DAEDEE}" type="datetime3">
              <a:rPr lang="en-US" smtClean="0"/>
              <a:t>22 April 2025</a:t>
            </a:fld>
            <a:endParaRPr lang="en-US"/>
          </a:p>
        </p:txBody>
      </p:sp>
      <p:sp>
        <p:nvSpPr>
          <p:cNvPr id="7" name="Slide Number Placeholder 6">
            <a:extLst>
              <a:ext uri="{FF2B5EF4-FFF2-40B4-BE49-F238E27FC236}">
                <a16:creationId xmlns:a16="http://schemas.microsoft.com/office/drawing/2014/main" id="{203E045D-144D-4F99-ADE1-D7B18AFFF5BD}"/>
              </a:ext>
            </a:extLst>
          </p:cNvPr>
          <p:cNvSpPr>
            <a:spLocks noGrp="1"/>
          </p:cNvSpPr>
          <p:nvPr>
            <p:ph type="sldNum" sz="quarter" idx="12"/>
          </p:nvPr>
        </p:nvSpPr>
        <p:spPr/>
        <p:txBody>
          <a:bodyPr/>
          <a:lstStyle/>
          <a:p>
            <a:fld id="{7B28076C-CE04-4A00-BFAA-A90EA8355859}" type="slidenum">
              <a:rPr lang="en-US" smtClean="0"/>
              <a:pPr/>
              <a:t>15</a:t>
            </a:fld>
            <a:endParaRPr lang="en-US"/>
          </a:p>
        </p:txBody>
      </p:sp>
      <p:pic>
        <p:nvPicPr>
          <p:cNvPr id="15" name="Content Placeholder 14">
            <a:extLst>
              <a:ext uri="{FF2B5EF4-FFF2-40B4-BE49-F238E27FC236}">
                <a16:creationId xmlns:a16="http://schemas.microsoft.com/office/drawing/2014/main" id="{1406EB4F-68AF-4A71-B01E-587AC0EB65E7}"/>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640050" y="2667000"/>
            <a:ext cx="6011905" cy="2225707"/>
          </a:xfrm>
        </p:spPr>
      </p:pic>
      <p:sp>
        <p:nvSpPr>
          <p:cNvPr id="2" name="Footer Placeholder 1">
            <a:extLst>
              <a:ext uri="{FF2B5EF4-FFF2-40B4-BE49-F238E27FC236}">
                <a16:creationId xmlns:a16="http://schemas.microsoft.com/office/drawing/2014/main" id="{58F98646-4A60-42C1-9936-B559100147A1}"/>
              </a:ext>
            </a:extLst>
          </p:cNvPr>
          <p:cNvSpPr>
            <a:spLocks noGrp="1"/>
          </p:cNvSpPr>
          <p:nvPr>
            <p:ph type="ftr" sz="quarter" idx="4294967295"/>
          </p:nvPr>
        </p:nvSpPr>
        <p:spPr>
          <a:xfrm>
            <a:off x="2931502" y="6492875"/>
            <a:ext cx="3429000" cy="365125"/>
          </a:xfrm>
        </p:spPr>
        <p:txBody>
          <a:bodyPr/>
          <a:lstStyle/>
          <a:p>
            <a:r>
              <a:rPr lang="en-US"/>
              <a:t>Department of CSE with AI</a:t>
            </a:r>
            <a:endParaRPr lang="en-US" b="1" dirty="0"/>
          </a:p>
        </p:txBody>
      </p:sp>
    </p:spTree>
    <p:extLst>
      <p:ext uri="{BB962C8B-B14F-4D97-AF65-F5344CB8AC3E}">
        <p14:creationId xmlns:p14="http://schemas.microsoft.com/office/powerpoint/2010/main" val="2583647682"/>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1189</TotalTime>
  <Words>796</Words>
  <Application>Microsoft Office PowerPoint</Application>
  <PresentationFormat>On-screen Show (4:3)</PresentationFormat>
  <Paragraphs>106</Paragraphs>
  <Slides>15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Custom Design</vt:lpstr>
      <vt:lpstr>PowerPoint Presentation</vt:lpstr>
      <vt:lpstr>                PRESENTATION OUTLINE</vt:lpstr>
      <vt:lpstr>COURSE CERTIFICATE</vt:lpstr>
      <vt:lpstr>ABSTRACT</vt:lpstr>
      <vt:lpstr>                           OBJECTIVES</vt:lpstr>
      <vt:lpstr>                  SYSTEM ARCHITECTURE</vt:lpstr>
      <vt:lpstr>HARDWARE AND SOFTWARE REQUIREMENTS</vt:lpstr>
      <vt:lpstr>  DATASET DESCRIPTION</vt:lpstr>
      <vt:lpstr>               RESULTS AND DISCUSSION</vt:lpstr>
      <vt:lpstr>               RESULTS AND DISCUSSION</vt:lpstr>
      <vt:lpstr>               RESULTS AND DISCUSSION</vt:lpstr>
      <vt:lpstr>        CONCLUSION &amp; FUTURE WORK </vt:lpstr>
      <vt:lpstr>REFERENCES</vt:lpstr>
      <vt:lpstr>PowerPoint Presentation</vt:lpstr>
      <vt:lpstr> AI POWERED RESUME ANALYZER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R.Sathya Bama</dc:creator>
  <cp:lastModifiedBy>lokesh kumar</cp:lastModifiedBy>
  <cp:revision>154</cp:revision>
  <dcterms:created xsi:type="dcterms:W3CDTF">2019-11-06T07:48:53Z</dcterms:created>
  <dcterms:modified xsi:type="dcterms:W3CDTF">2025-04-22T14:35:19Z</dcterms:modified>
</cp:coreProperties>
</file>